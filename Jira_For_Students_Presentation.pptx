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24"/>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the title slide of the major project presentation.</a:t>
            </a:r>
          </a:p>
          <a:p>
            <a:r>
              <a:t>Introduce the project title 'Jira for Students', the course details, student names, roll numbers, and guide name. Briefly greet the audience and state that you will be presenting the final-year project developed for BSc-IT (MAIS) 6th Semester at Assam down town University.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the abstract in 2–3 minutes.</a:t>
            </a:r>
          </a:p>
          <a:p>
            <a:r>
              <a:t>Three parts: (1) The problem — students rely on WhatsApp which is unstructured. (2) The solution — a Jira-inspired platform with dedicated channels per subject. (3) The outcome — a fully deployed, role-based collaborative system.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the audience through the overall structure of the presentation.</a:t>
            </a:r>
          </a:p>
          <a:p>
            <a:r>
              <a:t>This slide gives a quick map of all six chapters. Mention that the project covers introduction, design, implementation, and evaluation — following a standard academic software engineering report format.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Introduce the context of the problem.</a:t>
            </a:r>
          </a:p>
          <a:p>
            <a:r>
              <a:t>Highlight that while tools like Jira exist for software teams, no equivalent exists for academic student groups. Explain how this motivated the development of a purpose-built platform for university students at AdtU.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Clearly articulate the problem the project solves.</a:t>
            </a:r>
          </a:p>
          <a:p>
            <a:r>
              <a:t>Emphasise that this is a real, observed problem at AdtU — not a hypothetical one. The highlight box at the bottom condenses the entire problem into one concise statement. This framing justifies why building this system was necessary.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Present the specific, measurable objectives of the project.</a:t>
            </a:r>
          </a:p>
          <a:p>
            <a:r>
              <a:t>Each objective maps to a concrete implemented feature. These objectives were defined at the start of the project and guided the development process throughout. Mention that all listed objectives have been successfully achieved in the final system.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Describe the current state of affairs before this project.</a:t>
            </a:r>
          </a:p>
          <a:p>
            <a:r>
              <a:t>This slide establishes the baseline. WhatsApp groups, emails, and pen drives are unreliable and unstructured. Highlight that the fundamental problem is the LACK of structure — not the absence of communication tools.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Describe the proposed solution clearly and confidently.</a:t>
            </a:r>
          </a:p>
          <a:p>
            <a:r>
              <a:t>Emphasise that the system mirrors the subject structure of AdtU — channels are created per batch, semester, and subject. The DOB-as-password approach removes the need for password reset flows for students. Highlight cloud deployment for production readiness.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through each feature card on this slide.</a:t>
            </a:r>
          </a:p>
          <a:p>
            <a:r>
              <a:t>Each feature listed here is confirmed as implemented in the codebase. Mention that the calendar view uses a global assignments endpoint, real-time chat is handled by Socket.IO events, and cloud storage uses Cloudinary's Node.js SDK with Multer middleware.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the layered architecture of the system.</a:t>
            </a:r>
          </a:p>
          <a:p>
            <a:r>
              <a:t>The frontend (React/Vite) communicates with the backend (Express) via REST API and Socket.IO. The backend handles auth (JWT), file uploads (Multer + Cloudinary), and DB queries (pg pool). The database is PostgreSQL hosted on Supabase. This five-layer architecture follows a clean separation of concerns.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the PostgreSQL database schema.</a:t>
            </a:r>
          </a:p>
          <a:p>
            <a:r>
              <a:t>There are 13 tables. The hierarchical structure is: Faculty → Programme → Batch → Channel. Users are linked to a programme and batch. Enrollments connect users to channels. All activity tables (messages, files, notes, assignments, notifications) reference channels and users via foreign keys. Performance indexes are applied on all FK columns.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through the end-to-end user journey step by step.</a:t>
            </a:r>
          </a:p>
          <a:p>
            <a:r>
              <a:t>Start from registration, explain auto-enrolment (the system reads programme and batch to assign channels automatically), then show how a student uses the system daily. Emphasise the assignment lifecycle as a key workflow that replaces manual processes.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List and briefly explain each technology.</a:t>
            </a:r>
          </a:p>
          <a:p>
            <a:r>
              <a:t>Frontend uses React + Vite for fast development, Tailwind for utility-first styling, and React Router for SPA navigation. Backend uses Express as the REST framework, Socket.IO for WebSocket real-time features, and JWT for stateless authentication. All files go through Multer to Cloudinary. Database is PostgreSQL with Supabase for hosting.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Describe each screen of the application.</a:t>
            </a:r>
          </a:p>
          <a:p>
            <a:r>
              <a:t>Replace the 📸 placeholder icons with actual application screenshots during final preparation. Walk through each screen logically: start with login, move to dashboard, then into a subject channel showing the different tabs. Highlight the split-panel dashboard design (stats + chat).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the development approach and phases.</a:t>
            </a:r>
          </a:p>
          <a:p>
            <a:r>
              <a:t>The project followed an Agile-inspired iterative model. Phase 1 was all about the data foundation and security. Phase 2 introduced the core real-time features. Phase 3 polished the system and made it production-ready. This phased approach ensured each layer was stable before building on top of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Present the working results of the system.</a:t>
            </a:r>
          </a:p>
          <a:p>
            <a:r>
              <a:t>This slide demonstrates that the project is not just conceptual — it is a fully working, deployed application. Mention specific figures: 10 API route modules, 13 database tables, 4 user roles, 8 UI screens. If possible, do a live demo after this slide.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Discuss the real technical challenges encountered and how they were resolved.</a:t>
            </a:r>
          </a:p>
          <a:p>
            <a:r>
              <a:t>These are genuine issues faced during development — not hypothetical. The CORS/Vercel issue, the Supabase pooler configuration, and socket cleanup in React are all real documented problems that were systematically resolved. This shows technical depth and problem-solving ability.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Wrap up the project with a strong, confident conclusion.</a:t>
            </a:r>
          </a:p>
          <a:p>
            <a:r>
              <a:t>Emphasise that every objective stated at the beginning has been achieved. The system is not a prototype — it is deployed and functional. Highlight that this project bridges academic learning with real-world software engineering practice.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Discuss planned and potential future improvements.</a:t>
            </a:r>
          </a:p>
          <a:p>
            <a:r>
              <a:t>Frame future scope as a roadmap — short-term (3–6 months), medium-term (6–12 months), and long-term (1–2 years). The mobile app and AI search are highest priority. ERP integration would be the most transformative for the university.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Closing slide — thank the audience and invite questions.</a:t>
            </a:r>
          </a:p>
          <a:p>
            <a:r>
              <a:t>Reference [12] (Pressman) represents the software engineering methodology foundation. All other references are official documentation of the tools actually used in the project. Invite evaluators to ask questions about any aspect of the implementation.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Google Shape;54;p13"/>
          <p:cNvSpPr txBox="1"/>
          <p:nvPr/>
        </p:nvSpPr>
        <p:spPr>
          <a:xfrm>
            <a:off x="2500760" y="1390490"/>
            <a:ext cx="7187400" cy="110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ltLang="en-US" sz="1800" b="1">
                <a:solidFill>
                  <a:schemeClr val="dk2"/>
                </a:solidFill>
              </a:rPr>
              <a:t>EduSync: </a:t>
            </a:r>
            <a:r>
              <a:rPr lang="en-US" altLang="en-GB" sz="1800" b="1">
                <a:solidFill>
                  <a:schemeClr val="dk2"/>
                </a:solidFill>
              </a:rPr>
              <a:t>A Web-Based Academic Management System</a:t>
            </a:r>
            <a:endParaRPr lang="en-US" altLang="en-GB" sz="1800" b="1">
              <a:solidFill>
                <a:schemeClr val="dk2"/>
              </a:solidFill>
            </a:endParaRPr>
          </a:p>
          <a:p>
            <a:pPr marL="0" lvl="0" indent="0" algn="ctr" rtl="0">
              <a:spcBef>
                <a:spcPts val="0"/>
              </a:spcBef>
              <a:spcAft>
                <a:spcPts val="0"/>
              </a:spcAft>
              <a:buNone/>
            </a:pPr>
            <a:endParaRPr sz="1800" b="1">
              <a:solidFill>
                <a:schemeClr val="dk2"/>
              </a:solidFill>
            </a:endParaRPr>
          </a:p>
        </p:txBody>
      </p:sp>
      <p:pic>
        <p:nvPicPr>
          <p:cNvPr id="55" name="Google Shape;55;p13"/>
          <p:cNvPicPr preferRelativeResize="0"/>
          <p:nvPr/>
        </p:nvPicPr>
        <p:blipFill>
          <a:blip r:embed="rId1"/>
          <a:stretch>
            <a:fillRect/>
          </a:stretch>
        </p:blipFill>
        <p:spPr>
          <a:xfrm>
            <a:off x="9407495" y="362375"/>
            <a:ext cx="2070950" cy="932525"/>
          </a:xfrm>
          <a:prstGeom prst="rect">
            <a:avLst/>
          </a:prstGeom>
          <a:noFill/>
          <a:ln>
            <a:noFill/>
          </a:ln>
        </p:spPr>
      </p:pic>
      <p:sp>
        <p:nvSpPr>
          <p:cNvPr id="56" name="Google Shape;56;p13"/>
          <p:cNvSpPr txBox="1"/>
          <p:nvPr/>
        </p:nvSpPr>
        <p:spPr>
          <a:xfrm>
            <a:off x="278765" y="2185035"/>
            <a:ext cx="9867900" cy="3435985"/>
          </a:xfrm>
          <a:prstGeom prst="rect">
            <a:avLst/>
          </a:prstGeom>
          <a:noFill/>
          <a:ln>
            <a:noFill/>
          </a:ln>
        </p:spPr>
        <p:txBody>
          <a:bodyPr spcFirstLastPara="1" wrap="square" lIns="91425" tIns="91425" rIns="91425" bIns="91425" anchor="t" anchorCtr="0">
            <a:noAutofit/>
          </a:bodyPr>
          <a:lstStyle/>
          <a:p>
            <a:pPr marL="0" lvl="0" indent="0" algn="l" rtl="0" fontAlgn="t">
              <a:spcBef>
                <a:spcPts val="0"/>
              </a:spcBef>
              <a:spcAft>
                <a:spcPts val="0"/>
              </a:spcAft>
              <a:buNone/>
            </a:pPr>
            <a:r>
              <a:rPr lang="en-GB" sz="1300" b="1" u="sng">
                <a:solidFill>
                  <a:schemeClr val="dk1"/>
                </a:solidFill>
              </a:rPr>
              <a:t>Submitted by</a:t>
            </a:r>
            <a:endParaRPr sz="1300" b="1" u="sng">
              <a:solidFill>
                <a:schemeClr val="dk1"/>
              </a:solidFill>
            </a:endParaRPr>
          </a:p>
          <a:p>
            <a:pPr marL="0" lvl="0" indent="0" algn="l" rtl="0" fontAlgn="t">
              <a:spcBef>
                <a:spcPts val="0"/>
              </a:spcBef>
              <a:spcAft>
                <a:spcPts val="0"/>
              </a:spcAft>
              <a:buNone/>
            </a:pPr>
            <a:endParaRPr sz="1300" b="1" u="sng">
              <a:solidFill>
                <a:schemeClr val="dk1"/>
              </a:solidFill>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rPr>
              <a:t>Soram Sonu SIngha</a:t>
            </a:r>
            <a:endParaRPr lang="en-GB" sz="1300">
              <a:solidFill>
                <a:schemeClr val="dk1"/>
              </a:solidFill>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rPr>
              <a:t>Roll No.: ADTU/2022-26/BCS(I)/039</a:t>
            </a:r>
            <a:r>
              <a:rPr lang="en-GB" sz="1300">
                <a:solidFill>
                  <a:srgbClr val="00000A"/>
                </a:solidFill>
              </a:rPr>
              <a:t> </a:t>
            </a:r>
            <a:endParaRPr sz="1300">
              <a:solidFill>
                <a:srgbClr val="00000A"/>
              </a:solidFill>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rPr>
              <a:t>B.Tech CSE CTIS 8</a:t>
            </a:r>
            <a:r>
              <a:rPr lang="en-GB" sz="1300" baseline="30000">
                <a:solidFill>
                  <a:schemeClr val="dk1"/>
                </a:solidFill>
              </a:rPr>
              <a:t>th</a:t>
            </a:r>
            <a:r>
              <a:rPr lang="en-GB" sz="1300">
                <a:solidFill>
                  <a:schemeClr val="dk1"/>
                </a:solidFill>
              </a:rPr>
              <a:t> Semester</a:t>
            </a:r>
            <a:endParaRPr lang="en-GB" sz="1300">
              <a:solidFill>
                <a:schemeClr val="dk1"/>
              </a:solidFill>
            </a:endParaRPr>
          </a:p>
          <a:p>
            <a:pPr marL="0" lvl="0" indent="0" algn="l" rtl="0" fontAlgn="t">
              <a:lnSpc>
                <a:spcPct val="50000"/>
              </a:lnSpc>
              <a:spcBef>
                <a:spcPts val="1200"/>
              </a:spcBef>
              <a:spcAft>
                <a:spcPts val="0"/>
              </a:spcAft>
              <a:buClr>
                <a:schemeClr val="dk1"/>
              </a:buClr>
              <a:buSzPts val="1100"/>
              <a:buFont typeface="Arial" panose="020B0604020202020204"/>
              <a:buNone/>
            </a:pPr>
            <a:endParaRPr sz="1300">
              <a:solidFill>
                <a:schemeClr val="dk1"/>
              </a:solidFill>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sym typeface="+mn-ea"/>
              </a:rPr>
              <a:t>Abdul Karim Mansoori</a:t>
            </a:r>
            <a:endParaRPr lang="en-GB" sz="1300">
              <a:solidFill>
                <a:schemeClr val="dk1"/>
              </a:solidFill>
              <a:sym typeface="+mn-ea"/>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sym typeface="+mn-ea"/>
              </a:rPr>
              <a:t>Roll No.: ADTU/2022-26/BCS(I)/</a:t>
            </a:r>
            <a:endParaRPr sz="1300">
              <a:solidFill>
                <a:srgbClr val="00000A"/>
              </a:solidFill>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sym typeface="+mn-ea"/>
              </a:rPr>
              <a:t>B.Tech CSE CTIS 8</a:t>
            </a:r>
            <a:r>
              <a:rPr lang="en-GB" sz="1300" baseline="30000">
                <a:solidFill>
                  <a:schemeClr val="dk1"/>
                </a:solidFill>
                <a:sym typeface="+mn-ea"/>
              </a:rPr>
              <a:t>th</a:t>
            </a:r>
            <a:r>
              <a:rPr lang="en-GB" sz="1300">
                <a:solidFill>
                  <a:schemeClr val="dk1"/>
                </a:solidFill>
                <a:sym typeface="+mn-ea"/>
              </a:rPr>
              <a:t> Semester</a:t>
            </a:r>
            <a:endParaRPr lang="en-GB" sz="1300">
              <a:solidFill>
                <a:schemeClr val="dk1"/>
              </a:solidFill>
              <a:sym typeface="+mn-ea"/>
            </a:endParaRPr>
          </a:p>
          <a:p>
            <a:pPr marL="0" lvl="0" indent="0" algn="l" rtl="0" fontAlgn="t">
              <a:lnSpc>
                <a:spcPct val="50000"/>
              </a:lnSpc>
              <a:spcBef>
                <a:spcPts val="1200"/>
              </a:spcBef>
              <a:spcAft>
                <a:spcPts val="0"/>
              </a:spcAft>
              <a:buClr>
                <a:schemeClr val="dk1"/>
              </a:buClr>
              <a:buSzPts val="1100"/>
              <a:buFont typeface="Arial" panose="020B0604020202020204"/>
              <a:buNone/>
            </a:pPr>
            <a:endParaRPr lang="en-GB" sz="1300">
              <a:solidFill>
                <a:schemeClr val="dk1"/>
              </a:solidFill>
              <a:sym typeface="+mn-ea"/>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sym typeface="+mn-ea"/>
              </a:rPr>
              <a:t>Th. Prakash Singha</a:t>
            </a:r>
            <a:endParaRPr lang="en-GB" sz="1300">
              <a:solidFill>
                <a:schemeClr val="dk1"/>
              </a:solidFill>
              <a:sym typeface="+mn-ea"/>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sym typeface="+mn-ea"/>
              </a:rPr>
              <a:t>Roll No.: ADTU/2022-26/BCS(I)/039</a:t>
            </a:r>
            <a:r>
              <a:rPr lang="en-GB" sz="1300">
                <a:solidFill>
                  <a:srgbClr val="00000A"/>
                </a:solidFill>
                <a:sym typeface="+mn-ea"/>
              </a:rPr>
              <a:t> </a:t>
            </a:r>
            <a:endParaRPr sz="1300">
              <a:solidFill>
                <a:srgbClr val="00000A"/>
              </a:solidFill>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sym typeface="+mn-ea"/>
              </a:rPr>
              <a:t>B.Tech CSE CTIS 8</a:t>
            </a:r>
            <a:r>
              <a:rPr lang="en-GB" sz="1300" baseline="30000">
                <a:solidFill>
                  <a:schemeClr val="dk1"/>
                </a:solidFill>
                <a:sym typeface="+mn-ea"/>
              </a:rPr>
              <a:t>th</a:t>
            </a:r>
            <a:r>
              <a:rPr lang="en-GB" sz="1300">
                <a:solidFill>
                  <a:schemeClr val="dk1"/>
                </a:solidFill>
                <a:sym typeface="+mn-ea"/>
              </a:rPr>
              <a:t> Semester</a:t>
            </a:r>
            <a:endParaRPr lang="en-GB" sz="1300">
              <a:solidFill>
                <a:schemeClr val="dk1"/>
              </a:solidFill>
              <a:sym typeface="+mn-ea"/>
            </a:endParaRPr>
          </a:p>
          <a:p>
            <a:pPr marL="0" lvl="0" indent="0" algn="l" rtl="0" fontAlgn="t">
              <a:lnSpc>
                <a:spcPct val="50000"/>
              </a:lnSpc>
              <a:spcBef>
                <a:spcPts val="1200"/>
              </a:spcBef>
              <a:spcAft>
                <a:spcPts val="0"/>
              </a:spcAft>
              <a:buClr>
                <a:schemeClr val="dk1"/>
              </a:buClr>
              <a:buSzPts val="1100"/>
              <a:buFont typeface="Arial" panose="020B0604020202020204"/>
              <a:buNone/>
            </a:pPr>
            <a:endParaRPr sz="1300">
              <a:solidFill>
                <a:schemeClr val="dk1"/>
              </a:solidFill>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rPr>
              <a:t>Prastab Raaj SIngha</a:t>
            </a:r>
            <a:endParaRPr lang="en-GB" sz="1300">
              <a:solidFill>
                <a:schemeClr val="dk1"/>
              </a:solidFill>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sym typeface="+mn-ea"/>
              </a:rPr>
              <a:t>Roll No.: ADTU/2022-26/BCS(I)/039</a:t>
            </a:r>
            <a:r>
              <a:rPr lang="en-GB" sz="1300">
                <a:solidFill>
                  <a:srgbClr val="00000A"/>
                </a:solidFill>
                <a:sym typeface="+mn-ea"/>
              </a:rPr>
              <a:t> </a:t>
            </a:r>
            <a:endParaRPr sz="1300">
              <a:solidFill>
                <a:srgbClr val="00000A"/>
              </a:solidFill>
            </a:endParaRPr>
          </a:p>
          <a:p>
            <a:pPr marL="0" lvl="0" indent="0" algn="l" rtl="0" fontAlgn="t">
              <a:lnSpc>
                <a:spcPct val="50000"/>
              </a:lnSpc>
              <a:spcBef>
                <a:spcPts val="1200"/>
              </a:spcBef>
              <a:spcAft>
                <a:spcPts val="0"/>
              </a:spcAft>
              <a:buClr>
                <a:schemeClr val="dk1"/>
              </a:buClr>
              <a:buSzPts val="1100"/>
              <a:buFont typeface="Arial" panose="020B0604020202020204"/>
              <a:buNone/>
            </a:pPr>
            <a:r>
              <a:rPr lang="en-GB" sz="1300">
                <a:solidFill>
                  <a:schemeClr val="dk1"/>
                </a:solidFill>
                <a:sym typeface="+mn-ea"/>
              </a:rPr>
              <a:t>B.Tech CSE CTIS 8</a:t>
            </a:r>
            <a:r>
              <a:rPr lang="en-GB" sz="1300" baseline="30000">
                <a:solidFill>
                  <a:schemeClr val="dk1"/>
                </a:solidFill>
                <a:sym typeface="+mn-ea"/>
              </a:rPr>
              <a:t>th</a:t>
            </a:r>
            <a:r>
              <a:rPr lang="en-GB" sz="1300">
                <a:solidFill>
                  <a:schemeClr val="dk1"/>
                </a:solidFill>
                <a:sym typeface="+mn-ea"/>
              </a:rPr>
              <a:t> Semester</a:t>
            </a:r>
            <a:endParaRPr sz="1300">
              <a:solidFill>
                <a:schemeClr val="dk1"/>
              </a:solidFill>
            </a:endParaRPr>
          </a:p>
          <a:p>
            <a:pPr marL="0" lvl="0" indent="0" algn="l" rtl="0" fontAlgn="t">
              <a:spcBef>
                <a:spcPts val="0"/>
              </a:spcBef>
              <a:spcAft>
                <a:spcPts val="0"/>
              </a:spcAft>
              <a:buNone/>
            </a:pPr>
            <a:endParaRPr sz="1300" b="1" u="sng">
              <a:solidFill>
                <a:schemeClr val="dk1"/>
              </a:solidFill>
            </a:endParaRPr>
          </a:p>
        </p:txBody>
      </p:sp>
      <p:sp>
        <p:nvSpPr>
          <p:cNvPr id="57" name="Google Shape;57;p13"/>
          <p:cNvSpPr txBox="1"/>
          <p:nvPr/>
        </p:nvSpPr>
        <p:spPr>
          <a:xfrm>
            <a:off x="7759935" y="2184825"/>
            <a:ext cx="3930600" cy="22401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1200"/>
              </a:spcBef>
              <a:spcAft>
                <a:spcPts val="0"/>
              </a:spcAft>
              <a:buNone/>
            </a:pPr>
            <a:r>
              <a:rPr lang="en-GB" sz="1300" b="1" u="sng" dirty="0">
                <a:solidFill>
                  <a:schemeClr val="dk1"/>
                </a:solidFill>
              </a:rPr>
              <a:t>Under the Guidance of</a:t>
            </a:r>
            <a:endParaRPr sz="1300" b="1" u="sng" dirty="0">
              <a:solidFill>
                <a:schemeClr val="dk1"/>
              </a:solidFill>
            </a:endParaRPr>
          </a:p>
          <a:p>
            <a:pPr marL="0" lvl="0" indent="0" algn="ctr" rtl="0">
              <a:lnSpc>
                <a:spcPct val="50000"/>
              </a:lnSpc>
              <a:spcBef>
                <a:spcPts val="1200"/>
              </a:spcBef>
              <a:spcAft>
                <a:spcPts val="0"/>
              </a:spcAft>
              <a:buNone/>
            </a:pPr>
            <a:r>
              <a:rPr lang="en-GB" b="1" dirty="0">
                <a:solidFill>
                  <a:schemeClr val="dk1"/>
                </a:solidFill>
              </a:rPr>
              <a:t>XXXXXXXXXXX</a:t>
            </a:r>
            <a:endParaRPr b="1" dirty="0">
              <a:solidFill>
                <a:schemeClr val="dk1"/>
              </a:solidFill>
            </a:endParaRPr>
          </a:p>
          <a:p>
            <a:pPr marL="0" lvl="0" indent="0" algn="ctr" rtl="0">
              <a:lnSpc>
                <a:spcPct val="50000"/>
              </a:lnSpc>
              <a:spcBef>
                <a:spcPts val="1200"/>
              </a:spcBef>
              <a:spcAft>
                <a:spcPts val="0"/>
              </a:spcAft>
              <a:buNone/>
            </a:pPr>
            <a:r>
              <a:rPr lang="en-GB" sz="1200" b="1" dirty="0">
                <a:solidFill>
                  <a:schemeClr val="dk1"/>
                </a:solidFill>
              </a:rPr>
              <a:t>Assistant Professor</a:t>
            </a:r>
            <a:endParaRPr sz="1200" b="1" dirty="0">
              <a:solidFill>
                <a:srgbClr val="00000A"/>
              </a:solidFill>
            </a:endParaRPr>
          </a:p>
          <a:p>
            <a:pPr marL="0" lvl="0" indent="0" algn="ctr" rtl="0">
              <a:lnSpc>
                <a:spcPct val="50000"/>
              </a:lnSpc>
              <a:spcBef>
                <a:spcPts val="1200"/>
              </a:spcBef>
              <a:spcAft>
                <a:spcPts val="0"/>
              </a:spcAft>
              <a:buNone/>
            </a:pPr>
            <a:r>
              <a:rPr lang="en-GB" sz="1200" b="1" dirty="0" smtClean="0">
                <a:solidFill>
                  <a:srgbClr val="00000A"/>
                </a:solidFill>
              </a:rPr>
              <a:t>Faculty </a:t>
            </a:r>
            <a:r>
              <a:rPr lang="en-GB" sz="1200" b="1" dirty="0">
                <a:solidFill>
                  <a:srgbClr val="00000A"/>
                </a:solidFill>
              </a:rPr>
              <a:t>of XXXXXXX</a:t>
            </a:r>
            <a:endParaRPr sz="1200" b="1" dirty="0">
              <a:solidFill>
                <a:srgbClr val="00000A"/>
              </a:solidFill>
            </a:endParaRPr>
          </a:p>
          <a:p>
            <a:pPr marL="0" lvl="0" indent="0" algn="ctr" rtl="0">
              <a:lnSpc>
                <a:spcPct val="50000"/>
              </a:lnSpc>
              <a:spcBef>
                <a:spcPts val="1200"/>
              </a:spcBef>
              <a:spcAft>
                <a:spcPts val="0"/>
              </a:spcAft>
              <a:buNone/>
            </a:pPr>
            <a:r>
              <a:rPr lang="en-GB" sz="1200" b="1" dirty="0">
                <a:solidFill>
                  <a:schemeClr val="dk1"/>
                </a:solidFill>
              </a:rPr>
              <a:t>Assam down town University</a:t>
            </a:r>
            <a:endParaRPr sz="1200" b="1" dirty="0">
              <a:solidFill>
                <a:schemeClr val="dk1"/>
              </a:solidFill>
            </a:endParaRPr>
          </a:p>
          <a:p>
            <a:pPr marL="0" lvl="0" indent="0" algn="ctr" rtl="0">
              <a:lnSpc>
                <a:spcPct val="50000"/>
              </a:lnSpc>
              <a:spcBef>
                <a:spcPts val="1200"/>
              </a:spcBef>
              <a:spcAft>
                <a:spcPts val="0"/>
              </a:spcAft>
              <a:buNone/>
            </a:pPr>
            <a:r>
              <a:rPr lang="en-GB" sz="1200" b="1" dirty="0">
                <a:solidFill>
                  <a:schemeClr val="dk1"/>
                </a:solidFill>
              </a:rPr>
              <a:t>Guwahati-26, Assam.</a:t>
            </a:r>
            <a:endParaRPr sz="1200" b="1" dirty="0">
              <a:solidFill>
                <a:schemeClr val="dk1"/>
              </a:solidFill>
            </a:endParaRPr>
          </a:p>
          <a:p>
            <a:pPr marL="0" lvl="0" indent="0" algn="ctr" rtl="0">
              <a:lnSpc>
                <a:spcPct val="50000"/>
              </a:lnSpc>
              <a:spcBef>
                <a:spcPts val="1200"/>
              </a:spcBef>
              <a:spcAft>
                <a:spcPts val="0"/>
              </a:spcAft>
              <a:buNone/>
            </a:pPr>
            <a:endParaRPr sz="1300" b="1" u="sng" dirty="0">
              <a:solidFill>
                <a:schemeClr val="dk1"/>
              </a:solidFill>
            </a:endParaRPr>
          </a:p>
          <a:p>
            <a:pPr marL="0" lvl="0" indent="0" algn="ctr" rtl="0">
              <a:spcBef>
                <a:spcPts val="0"/>
              </a:spcBef>
              <a:spcAft>
                <a:spcPts val="0"/>
              </a:spcAft>
              <a:buNone/>
            </a:pPr>
            <a:endParaRPr sz="1300" b="1" u="sng" dirty="0">
              <a:solidFill>
                <a:schemeClr val="dk2"/>
              </a:solidFill>
            </a:endParaRPr>
          </a:p>
          <a:p>
            <a:pPr marL="0" lvl="0" indent="0" algn="ctr" rtl="0">
              <a:spcBef>
                <a:spcPts val="0"/>
              </a:spcBef>
              <a:spcAft>
                <a:spcPts val="0"/>
              </a:spcAft>
              <a:buNone/>
            </a:pPr>
            <a:endParaRPr sz="1300" b="1" u="sng" dirty="0">
              <a:solidFill>
                <a:schemeClr val="dk2"/>
              </a:solidFill>
            </a:endParaRPr>
          </a:p>
          <a:p>
            <a:pPr marL="0" lvl="0" indent="0" algn="ctr" rtl="0">
              <a:spcBef>
                <a:spcPts val="0"/>
              </a:spcBef>
              <a:spcAft>
                <a:spcPts val="0"/>
              </a:spcAft>
              <a:buClr>
                <a:schemeClr val="dk1"/>
              </a:buClr>
              <a:buSzPts val="1100"/>
              <a:buFont typeface="Arial" panose="020B0604020202020204"/>
              <a:buNone/>
            </a:pPr>
            <a:endParaRPr sz="1300" b="1" u="sng"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Rectangle 3"/>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Abstract</a:t>
            </a:r>
            <a:endParaRPr sz="2200" b="1" i="0">
              <a:solidFill>
                <a:srgbClr val="00326E"/>
              </a:solidFill>
              <a:latin typeface="Calibri" panose="020F0502020204030204"/>
            </a:endParaRPr>
          </a:p>
        </p:txBody>
      </p:sp>
      <p:sp>
        <p:nvSpPr>
          <p:cNvPr id="7" name="Rectangle 6"/>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11064240" cy="5029200"/>
          </a:xfrm>
          <a:prstGeom prst="rect">
            <a:avLst/>
          </a:prstGeom>
          <a:noFill/>
        </p:spPr>
        <p:txBody>
          <a:bodyPr wrap="square">
            <a:spAutoFit/>
          </a:bodyPr>
          <a:lstStyle/>
          <a:p>
            <a:pPr algn="l"/>
            <a:r>
              <a:rPr sz="1350" b="0" i="0">
                <a:solidFill>
                  <a:srgbClr val="333333"/>
                </a:solidFill>
                <a:latin typeface="Calibri" panose="020F0502020204030204"/>
              </a:rPr>
              <a:t>This project, 'Jira for Students', is a cloud-based academic collaboration platform developed for Assam down town University (AdtU). It replaces informal communication channels such as WhatsApp groups with a structured, role-based academic workspace.
Problem: Students and faculty lack a unified digital platform for subject-specific communication, assignment tracking, file sharing, and announcements — leading to scattered information and missed deadlines.
Solution: A full-stack web application built with React, Node.js, Socket.IO, PostgreSQL (Supabase), and Cloudinary that organises academic activities into dedicated subject channels with real-time messaging, assignment management, notes repository, and role-based access control.
Outcome: A production-ready platform deployed on Vercel (frontend) and Render (backend) that enables seamless, structured academic collaboration between students, faculty, and class representatives.</a:t>
            </a:r>
            <a:endParaRPr sz="1350" b="0" i="0">
              <a:solidFill>
                <a:srgbClr val="333333"/>
              </a:solidFill>
              <a:latin typeface="Calibri" panose="020F0502020204030204"/>
            </a:endParaRPr>
          </a:p>
        </p:txBody>
      </p:sp>
      <p:sp>
        <p:nvSpPr>
          <p:cNvPr id="10" name="Slide Number Placeholder 9"/>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Rectangle 3"/>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Index / Table of Contents</a:t>
            </a:r>
            <a:endParaRPr sz="2200" b="1" i="0">
              <a:solidFill>
                <a:srgbClr val="00326E"/>
              </a:solidFill>
              <a:latin typeface="Calibri" panose="020F0502020204030204"/>
            </a:endParaRPr>
          </a:p>
        </p:txBody>
      </p:sp>
      <p:sp>
        <p:nvSpPr>
          <p:cNvPr id="7" name="Rectangle 6"/>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11430000" cy="52324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27048"/>
            <a:ext cx="1463040" cy="365760"/>
          </a:xfrm>
          <a:prstGeom prst="rect">
            <a:avLst/>
          </a:prstGeom>
          <a:noFill/>
        </p:spPr>
        <p:txBody>
          <a:bodyPr wrap="square">
            <a:spAutoFit/>
          </a:bodyPr>
          <a:lstStyle/>
          <a:p>
            <a:pPr algn="l"/>
            <a:r>
              <a:rPr sz="1200" b="1" i="0">
                <a:solidFill>
                  <a:srgbClr val="00326E"/>
                </a:solidFill>
                <a:latin typeface="Calibri" panose="020F0502020204030204"/>
              </a:rPr>
              <a:t>Chapter 1</a:t>
            </a:r>
            <a:endParaRPr sz="1200" b="1" i="0">
              <a:solidFill>
                <a:srgbClr val="00326E"/>
              </a:solidFill>
              <a:latin typeface="Calibri" panose="020F0502020204030204"/>
            </a:endParaRPr>
          </a:p>
        </p:txBody>
      </p:sp>
      <p:sp>
        <p:nvSpPr>
          <p:cNvPr id="10" name="TextBox 9"/>
          <p:cNvSpPr txBox="1"/>
          <p:nvPr/>
        </p:nvSpPr>
        <p:spPr>
          <a:xfrm>
            <a:off x="2011680" y="1527048"/>
            <a:ext cx="7772400" cy="365760"/>
          </a:xfrm>
          <a:prstGeom prst="rect">
            <a:avLst/>
          </a:prstGeom>
          <a:noFill/>
        </p:spPr>
        <p:txBody>
          <a:bodyPr wrap="square">
            <a:spAutoFit/>
          </a:bodyPr>
          <a:lstStyle/>
          <a:p>
            <a:pPr algn="l"/>
            <a:r>
              <a:rPr sz="1200" b="0" i="0">
                <a:solidFill>
                  <a:srgbClr val="333333"/>
                </a:solidFill>
                <a:latin typeface="Calibri" panose="020F0502020204030204"/>
              </a:rPr>
              <a:t>Introduction, Problem Statement, Objectives</a:t>
            </a:r>
            <a:endParaRPr sz="1200" b="0" i="0">
              <a:solidFill>
                <a:srgbClr val="333333"/>
              </a:solidFill>
              <a:latin typeface="Calibri" panose="020F0502020204030204"/>
            </a:endParaRPr>
          </a:p>
        </p:txBody>
      </p:sp>
      <p:sp>
        <p:nvSpPr>
          <p:cNvPr id="11" name="TextBox 10"/>
          <p:cNvSpPr txBox="1"/>
          <p:nvPr/>
        </p:nvSpPr>
        <p:spPr>
          <a:xfrm>
            <a:off x="9966960" y="1527048"/>
            <a:ext cx="1645920" cy="365760"/>
          </a:xfrm>
          <a:prstGeom prst="rect">
            <a:avLst/>
          </a:prstGeom>
          <a:noFill/>
        </p:spPr>
        <p:txBody>
          <a:bodyPr wrap="square">
            <a:spAutoFit/>
          </a:bodyPr>
          <a:lstStyle/>
          <a:p>
            <a:pPr algn="r"/>
            <a:r>
              <a:rPr sz="1100" b="0" i="1">
                <a:solidFill>
                  <a:srgbClr val="005BAA"/>
                </a:solidFill>
                <a:latin typeface="Calibri" panose="020F0502020204030204"/>
              </a:rPr>
              <a:t>Slides 4–6</a:t>
            </a:r>
            <a:endParaRPr sz="1100" b="0" i="1">
              <a:solidFill>
                <a:srgbClr val="005BAA"/>
              </a:solidFill>
              <a:latin typeface="Calibri" panose="020F0502020204030204"/>
            </a:endParaRPr>
          </a:p>
        </p:txBody>
      </p:sp>
      <p:sp>
        <p:nvSpPr>
          <p:cNvPr id="12" name="Rectangle 11"/>
          <p:cNvSpPr/>
          <p:nvPr/>
        </p:nvSpPr>
        <p:spPr>
          <a:xfrm>
            <a:off x="365760" y="1965960"/>
            <a:ext cx="11430000" cy="523240"/>
          </a:xfrm>
          <a:prstGeom prst="rect">
            <a:avLst/>
          </a:prstGeom>
          <a:solidFill>
            <a:srgbClr val="FFFFFF"/>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075688"/>
            <a:ext cx="1463040" cy="365760"/>
          </a:xfrm>
          <a:prstGeom prst="rect">
            <a:avLst/>
          </a:prstGeom>
          <a:noFill/>
        </p:spPr>
        <p:txBody>
          <a:bodyPr wrap="square">
            <a:spAutoFit/>
          </a:bodyPr>
          <a:lstStyle/>
          <a:p>
            <a:pPr algn="l"/>
            <a:r>
              <a:rPr sz="1200" b="1" i="0">
                <a:solidFill>
                  <a:srgbClr val="00326E"/>
                </a:solidFill>
                <a:latin typeface="Calibri" panose="020F0502020204030204"/>
              </a:rPr>
              <a:t>Chapter 2</a:t>
            </a:r>
            <a:endParaRPr sz="1200" b="1" i="0">
              <a:solidFill>
                <a:srgbClr val="00326E"/>
              </a:solidFill>
              <a:latin typeface="Calibri" panose="020F0502020204030204"/>
            </a:endParaRPr>
          </a:p>
        </p:txBody>
      </p:sp>
      <p:sp>
        <p:nvSpPr>
          <p:cNvPr id="14" name="TextBox 13"/>
          <p:cNvSpPr txBox="1"/>
          <p:nvPr/>
        </p:nvSpPr>
        <p:spPr>
          <a:xfrm>
            <a:off x="2011680" y="2075688"/>
            <a:ext cx="7772400" cy="365760"/>
          </a:xfrm>
          <a:prstGeom prst="rect">
            <a:avLst/>
          </a:prstGeom>
          <a:noFill/>
        </p:spPr>
        <p:txBody>
          <a:bodyPr wrap="square">
            <a:spAutoFit/>
          </a:bodyPr>
          <a:lstStyle/>
          <a:p>
            <a:pPr algn="l"/>
            <a:r>
              <a:rPr sz="1200" b="0" i="0">
                <a:solidFill>
                  <a:srgbClr val="333333"/>
                </a:solidFill>
                <a:latin typeface="Calibri" panose="020F0502020204030204"/>
              </a:rPr>
              <a:t>System Overview — Existing &amp; Proposed Systems</a:t>
            </a:r>
            <a:endParaRPr sz="1200" b="0" i="0">
              <a:solidFill>
                <a:srgbClr val="333333"/>
              </a:solidFill>
              <a:latin typeface="Calibri" panose="020F0502020204030204"/>
            </a:endParaRPr>
          </a:p>
        </p:txBody>
      </p:sp>
      <p:sp>
        <p:nvSpPr>
          <p:cNvPr id="15" name="TextBox 14"/>
          <p:cNvSpPr txBox="1"/>
          <p:nvPr/>
        </p:nvSpPr>
        <p:spPr>
          <a:xfrm>
            <a:off x="9966960" y="2075688"/>
            <a:ext cx="1645920" cy="365760"/>
          </a:xfrm>
          <a:prstGeom prst="rect">
            <a:avLst/>
          </a:prstGeom>
          <a:noFill/>
        </p:spPr>
        <p:txBody>
          <a:bodyPr wrap="square">
            <a:spAutoFit/>
          </a:bodyPr>
          <a:lstStyle/>
          <a:p>
            <a:pPr algn="r"/>
            <a:r>
              <a:rPr sz="1100" b="0" i="1">
                <a:solidFill>
                  <a:srgbClr val="005BAA"/>
                </a:solidFill>
                <a:latin typeface="Calibri" panose="020F0502020204030204"/>
              </a:rPr>
              <a:t>Slides 7–9</a:t>
            </a:r>
            <a:endParaRPr sz="1100" b="0" i="1">
              <a:solidFill>
                <a:srgbClr val="005BAA"/>
              </a:solidFill>
              <a:latin typeface="Calibri" panose="020F0502020204030204"/>
            </a:endParaRPr>
          </a:p>
        </p:txBody>
      </p:sp>
      <p:sp>
        <p:nvSpPr>
          <p:cNvPr id="16" name="Rectangle 15"/>
          <p:cNvSpPr/>
          <p:nvPr/>
        </p:nvSpPr>
        <p:spPr>
          <a:xfrm>
            <a:off x="365760" y="2514600"/>
            <a:ext cx="11430000" cy="52324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624328"/>
            <a:ext cx="1463040" cy="365760"/>
          </a:xfrm>
          <a:prstGeom prst="rect">
            <a:avLst/>
          </a:prstGeom>
          <a:noFill/>
        </p:spPr>
        <p:txBody>
          <a:bodyPr wrap="square">
            <a:spAutoFit/>
          </a:bodyPr>
          <a:lstStyle/>
          <a:p>
            <a:pPr algn="l"/>
            <a:r>
              <a:rPr sz="1200" b="1" i="0">
                <a:solidFill>
                  <a:srgbClr val="00326E"/>
                </a:solidFill>
                <a:latin typeface="Calibri" panose="020F0502020204030204"/>
              </a:rPr>
              <a:t>Chapter 3</a:t>
            </a:r>
            <a:endParaRPr sz="1200" b="1" i="0">
              <a:solidFill>
                <a:srgbClr val="00326E"/>
              </a:solidFill>
              <a:latin typeface="Calibri" panose="020F0502020204030204"/>
            </a:endParaRPr>
          </a:p>
        </p:txBody>
      </p:sp>
      <p:sp>
        <p:nvSpPr>
          <p:cNvPr id="18" name="TextBox 17"/>
          <p:cNvSpPr txBox="1"/>
          <p:nvPr/>
        </p:nvSpPr>
        <p:spPr>
          <a:xfrm>
            <a:off x="2011680" y="2624328"/>
            <a:ext cx="7772400" cy="365760"/>
          </a:xfrm>
          <a:prstGeom prst="rect">
            <a:avLst/>
          </a:prstGeom>
          <a:noFill/>
        </p:spPr>
        <p:txBody>
          <a:bodyPr wrap="square">
            <a:spAutoFit/>
          </a:bodyPr>
          <a:lstStyle/>
          <a:p>
            <a:pPr algn="l"/>
            <a:r>
              <a:rPr sz="1200" b="0" i="0">
                <a:solidFill>
                  <a:srgbClr val="333333"/>
                </a:solidFill>
                <a:latin typeface="Calibri" panose="020F0502020204030204"/>
              </a:rPr>
              <a:t>System Design — Architecture, DB, Workflow</a:t>
            </a:r>
            <a:endParaRPr sz="1200" b="0" i="0">
              <a:solidFill>
                <a:srgbClr val="333333"/>
              </a:solidFill>
              <a:latin typeface="Calibri" panose="020F0502020204030204"/>
            </a:endParaRPr>
          </a:p>
        </p:txBody>
      </p:sp>
      <p:sp>
        <p:nvSpPr>
          <p:cNvPr id="19" name="TextBox 18"/>
          <p:cNvSpPr txBox="1"/>
          <p:nvPr/>
        </p:nvSpPr>
        <p:spPr>
          <a:xfrm>
            <a:off x="9966960" y="2624328"/>
            <a:ext cx="1645920" cy="365760"/>
          </a:xfrm>
          <a:prstGeom prst="rect">
            <a:avLst/>
          </a:prstGeom>
          <a:noFill/>
        </p:spPr>
        <p:txBody>
          <a:bodyPr wrap="square">
            <a:spAutoFit/>
          </a:bodyPr>
          <a:lstStyle/>
          <a:p>
            <a:pPr algn="r"/>
            <a:r>
              <a:rPr sz="1100" b="0" i="1">
                <a:solidFill>
                  <a:srgbClr val="005BAA"/>
                </a:solidFill>
                <a:latin typeface="Calibri" panose="020F0502020204030204"/>
              </a:rPr>
              <a:t>Slides 10–12</a:t>
            </a:r>
            <a:endParaRPr sz="1100" b="0" i="1">
              <a:solidFill>
                <a:srgbClr val="005BAA"/>
              </a:solidFill>
              <a:latin typeface="Calibri" panose="020F0502020204030204"/>
            </a:endParaRPr>
          </a:p>
        </p:txBody>
      </p:sp>
      <p:sp>
        <p:nvSpPr>
          <p:cNvPr id="20" name="Rectangle 19"/>
          <p:cNvSpPr/>
          <p:nvPr/>
        </p:nvSpPr>
        <p:spPr>
          <a:xfrm>
            <a:off x="365760" y="3063240"/>
            <a:ext cx="11430000" cy="523240"/>
          </a:xfrm>
          <a:prstGeom prst="rect">
            <a:avLst/>
          </a:prstGeom>
          <a:solidFill>
            <a:srgbClr val="FFFFFF"/>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172968"/>
            <a:ext cx="1463040" cy="365760"/>
          </a:xfrm>
          <a:prstGeom prst="rect">
            <a:avLst/>
          </a:prstGeom>
          <a:noFill/>
        </p:spPr>
        <p:txBody>
          <a:bodyPr wrap="square">
            <a:spAutoFit/>
          </a:bodyPr>
          <a:lstStyle/>
          <a:p>
            <a:pPr algn="l"/>
            <a:r>
              <a:rPr sz="1200" b="1" i="0">
                <a:solidFill>
                  <a:srgbClr val="00326E"/>
                </a:solidFill>
                <a:latin typeface="Calibri" panose="020F0502020204030204"/>
              </a:rPr>
              <a:t>Chapter 4</a:t>
            </a:r>
            <a:endParaRPr sz="1200" b="1" i="0">
              <a:solidFill>
                <a:srgbClr val="00326E"/>
              </a:solidFill>
              <a:latin typeface="Calibri" panose="020F0502020204030204"/>
            </a:endParaRPr>
          </a:p>
        </p:txBody>
      </p:sp>
      <p:sp>
        <p:nvSpPr>
          <p:cNvPr id="22" name="TextBox 21"/>
          <p:cNvSpPr txBox="1"/>
          <p:nvPr/>
        </p:nvSpPr>
        <p:spPr>
          <a:xfrm>
            <a:off x="2011680" y="3172968"/>
            <a:ext cx="7772400" cy="365760"/>
          </a:xfrm>
          <a:prstGeom prst="rect">
            <a:avLst/>
          </a:prstGeom>
          <a:noFill/>
        </p:spPr>
        <p:txBody>
          <a:bodyPr wrap="square">
            <a:spAutoFit/>
          </a:bodyPr>
          <a:lstStyle/>
          <a:p>
            <a:pPr algn="l"/>
            <a:r>
              <a:rPr sz="1200" b="0" i="0">
                <a:solidFill>
                  <a:srgbClr val="333333"/>
                </a:solidFill>
                <a:latin typeface="Calibri" panose="020F0502020204030204"/>
              </a:rPr>
              <a:t>Implementation — Technologies, UI, Methodology</a:t>
            </a:r>
            <a:endParaRPr sz="1200" b="0" i="0">
              <a:solidFill>
                <a:srgbClr val="333333"/>
              </a:solidFill>
              <a:latin typeface="Calibri" panose="020F0502020204030204"/>
            </a:endParaRPr>
          </a:p>
        </p:txBody>
      </p:sp>
      <p:sp>
        <p:nvSpPr>
          <p:cNvPr id="23" name="TextBox 22"/>
          <p:cNvSpPr txBox="1"/>
          <p:nvPr/>
        </p:nvSpPr>
        <p:spPr>
          <a:xfrm>
            <a:off x="9966960" y="3172968"/>
            <a:ext cx="1645920" cy="365760"/>
          </a:xfrm>
          <a:prstGeom prst="rect">
            <a:avLst/>
          </a:prstGeom>
          <a:noFill/>
        </p:spPr>
        <p:txBody>
          <a:bodyPr wrap="square">
            <a:spAutoFit/>
          </a:bodyPr>
          <a:lstStyle/>
          <a:p>
            <a:pPr algn="r"/>
            <a:r>
              <a:rPr sz="1100" b="0" i="1">
                <a:solidFill>
                  <a:srgbClr val="005BAA"/>
                </a:solidFill>
                <a:latin typeface="Calibri" panose="020F0502020204030204"/>
              </a:rPr>
              <a:t>Slides 13–15</a:t>
            </a:r>
            <a:endParaRPr sz="1100" b="0" i="1">
              <a:solidFill>
                <a:srgbClr val="005BAA"/>
              </a:solidFill>
              <a:latin typeface="Calibri" panose="020F0502020204030204"/>
            </a:endParaRPr>
          </a:p>
        </p:txBody>
      </p:sp>
      <p:sp>
        <p:nvSpPr>
          <p:cNvPr id="24" name="Rectangle 23"/>
          <p:cNvSpPr/>
          <p:nvPr/>
        </p:nvSpPr>
        <p:spPr>
          <a:xfrm>
            <a:off x="365760" y="3611880"/>
            <a:ext cx="11430000" cy="52324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721608"/>
            <a:ext cx="1463040" cy="365760"/>
          </a:xfrm>
          <a:prstGeom prst="rect">
            <a:avLst/>
          </a:prstGeom>
          <a:noFill/>
        </p:spPr>
        <p:txBody>
          <a:bodyPr wrap="square">
            <a:spAutoFit/>
          </a:bodyPr>
          <a:lstStyle/>
          <a:p>
            <a:pPr algn="l"/>
            <a:r>
              <a:rPr sz="1200" b="1" i="0">
                <a:solidFill>
                  <a:srgbClr val="00326E"/>
                </a:solidFill>
                <a:latin typeface="Calibri" panose="020F0502020204030204"/>
              </a:rPr>
              <a:t>Chapter 5</a:t>
            </a:r>
            <a:endParaRPr sz="1200" b="1" i="0">
              <a:solidFill>
                <a:srgbClr val="00326E"/>
              </a:solidFill>
              <a:latin typeface="Calibri" panose="020F0502020204030204"/>
            </a:endParaRPr>
          </a:p>
        </p:txBody>
      </p:sp>
      <p:sp>
        <p:nvSpPr>
          <p:cNvPr id="26" name="TextBox 25"/>
          <p:cNvSpPr txBox="1"/>
          <p:nvPr/>
        </p:nvSpPr>
        <p:spPr>
          <a:xfrm>
            <a:off x="2011680" y="3721608"/>
            <a:ext cx="7772400" cy="365760"/>
          </a:xfrm>
          <a:prstGeom prst="rect">
            <a:avLst/>
          </a:prstGeom>
          <a:noFill/>
        </p:spPr>
        <p:txBody>
          <a:bodyPr wrap="square">
            <a:spAutoFit/>
          </a:bodyPr>
          <a:lstStyle/>
          <a:p>
            <a:pPr algn="l"/>
            <a:r>
              <a:rPr sz="1200" b="0" i="0">
                <a:solidFill>
                  <a:srgbClr val="333333"/>
                </a:solidFill>
                <a:latin typeface="Calibri" panose="020F0502020204030204"/>
              </a:rPr>
              <a:t>Results &amp; Discussion</a:t>
            </a:r>
            <a:endParaRPr sz="1200" b="0" i="0">
              <a:solidFill>
                <a:srgbClr val="333333"/>
              </a:solidFill>
              <a:latin typeface="Calibri" panose="020F0502020204030204"/>
            </a:endParaRPr>
          </a:p>
        </p:txBody>
      </p:sp>
      <p:sp>
        <p:nvSpPr>
          <p:cNvPr id="27" name="TextBox 26"/>
          <p:cNvSpPr txBox="1"/>
          <p:nvPr/>
        </p:nvSpPr>
        <p:spPr>
          <a:xfrm>
            <a:off x="9966960" y="3721608"/>
            <a:ext cx="1645920" cy="365760"/>
          </a:xfrm>
          <a:prstGeom prst="rect">
            <a:avLst/>
          </a:prstGeom>
          <a:noFill/>
        </p:spPr>
        <p:txBody>
          <a:bodyPr wrap="square">
            <a:spAutoFit/>
          </a:bodyPr>
          <a:lstStyle/>
          <a:p>
            <a:pPr algn="r"/>
            <a:r>
              <a:rPr sz="1100" b="0" i="1">
                <a:solidFill>
                  <a:srgbClr val="005BAA"/>
                </a:solidFill>
                <a:latin typeface="Calibri" panose="020F0502020204030204"/>
              </a:rPr>
              <a:t>Slides 16–17</a:t>
            </a:r>
            <a:endParaRPr sz="1100" b="0" i="1">
              <a:solidFill>
                <a:srgbClr val="005BAA"/>
              </a:solidFill>
              <a:latin typeface="Calibri" panose="020F0502020204030204"/>
            </a:endParaRPr>
          </a:p>
        </p:txBody>
      </p:sp>
      <p:sp>
        <p:nvSpPr>
          <p:cNvPr id="28" name="Rectangle 27"/>
          <p:cNvSpPr/>
          <p:nvPr/>
        </p:nvSpPr>
        <p:spPr>
          <a:xfrm>
            <a:off x="365760" y="4160520"/>
            <a:ext cx="11430000" cy="523240"/>
          </a:xfrm>
          <a:prstGeom prst="rect">
            <a:avLst/>
          </a:prstGeom>
          <a:solidFill>
            <a:srgbClr val="FFFFFF"/>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270248"/>
            <a:ext cx="1463040" cy="365760"/>
          </a:xfrm>
          <a:prstGeom prst="rect">
            <a:avLst/>
          </a:prstGeom>
          <a:noFill/>
        </p:spPr>
        <p:txBody>
          <a:bodyPr wrap="square">
            <a:spAutoFit/>
          </a:bodyPr>
          <a:lstStyle/>
          <a:p>
            <a:pPr algn="l"/>
            <a:r>
              <a:rPr sz="1200" b="1" i="0">
                <a:solidFill>
                  <a:srgbClr val="00326E"/>
                </a:solidFill>
                <a:latin typeface="Calibri" panose="020F0502020204030204"/>
              </a:rPr>
              <a:t>Chapter 6</a:t>
            </a:r>
            <a:endParaRPr sz="1200" b="1" i="0">
              <a:solidFill>
                <a:srgbClr val="00326E"/>
              </a:solidFill>
              <a:latin typeface="Calibri" panose="020F0502020204030204"/>
            </a:endParaRPr>
          </a:p>
        </p:txBody>
      </p:sp>
      <p:sp>
        <p:nvSpPr>
          <p:cNvPr id="30" name="TextBox 29"/>
          <p:cNvSpPr txBox="1"/>
          <p:nvPr/>
        </p:nvSpPr>
        <p:spPr>
          <a:xfrm>
            <a:off x="2011680" y="4270248"/>
            <a:ext cx="7772400" cy="365760"/>
          </a:xfrm>
          <a:prstGeom prst="rect">
            <a:avLst/>
          </a:prstGeom>
          <a:noFill/>
        </p:spPr>
        <p:txBody>
          <a:bodyPr wrap="square">
            <a:spAutoFit/>
          </a:bodyPr>
          <a:lstStyle/>
          <a:p>
            <a:pPr algn="l"/>
            <a:r>
              <a:rPr sz="1200" b="0" i="0">
                <a:solidFill>
                  <a:srgbClr val="333333"/>
                </a:solidFill>
                <a:latin typeface="Calibri" panose="020F0502020204030204"/>
              </a:rPr>
              <a:t>Conclusion &amp; Future Scope</a:t>
            </a:r>
            <a:endParaRPr sz="1200" b="0" i="0">
              <a:solidFill>
                <a:srgbClr val="333333"/>
              </a:solidFill>
              <a:latin typeface="Calibri" panose="020F0502020204030204"/>
            </a:endParaRPr>
          </a:p>
        </p:txBody>
      </p:sp>
      <p:sp>
        <p:nvSpPr>
          <p:cNvPr id="31" name="TextBox 30"/>
          <p:cNvSpPr txBox="1"/>
          <p:nvPr/>
        </p:nvSpPr>
        <p:spPr>
          <a:xfrm>
            <a:off x="9966960" y="4270248"/>
            <a:ext cx="1645920" cy="365760"/>
          </a:xfrm>
          <a:prstGeom prst="rect">
            <a:avLst/>
          </a:prstGeom>
          <a:noFill/>
        </p:spPr>
        <p:txBody>
          <a:bodyPr wrap="square">
            <a:spAutoFit/>
          </a:bodyPr>
          <a:lstStyle/>
          <a:p>
            <a:pPr algn="r"/>
            <a:r>
              <a:rPr sz="1100" b="0" i="1">
                <a:solidFill>
                  <a:srgbClr val="005BAA"/>
                </a:solidFill>
                <a:latin typeface="Calibri" panose="020F0502020204030204"/>
              </a:rPr>
              <a:t>Slides 18–19</a:t>
            </a:r>
            <a:endParaRPr sz="1100" b="0" i="1">
              <a:solidFill>
                <a:srgbClr val="005BAA"/>
              </a:solidFill>
              <a:latin typeface="Calibri" panose="020F0502020204030204"/>
            </a:endParaRPr>
          </a:p>
        </p:txBody>
      </p:sp>
      <p:sp>
        <p:nvSpPr>
          <p:cNvPr id="32" name="Rectangle 31"/>
          <p:cNvSpPr/>
          <p:nvPr/>
        </p:nvSpPr>
        <p:spPr>
          <a:xfrm>
            <a:off x="365760" y="4709160"/>
            <a:ext cx="11430000" cy="52324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11680" y="4818888"/>
            <a:ext cx="7772400" cy="365760"/>
          </a:xfrm>
          <a:prstGeom prst="rect">
            <a:avLst/>
          </a:prstGeom>
          <a:noFill/>
        </p:spPr>
        <p:txBody>
          <a:bodyPr wrap="square">
            <a:spAutoFit/>
          </a:bodyPr>
          <a:lstStyle/>
          <a:p>
            <a:pPr algn="l"/>
            <a:r>
              <a:rPr sz="1200" b="0" i="0">
                <a:solidFill>
                  <a:srgbClr val="333333"/>
                </a:solidFill>
                <a:latin typeface="Calibri" panose="020F0502020204030204"/>
              </a:rPr>
              <a:t>References &amp; Thank You</a:t>
            </a:r>
            <a:endParaRPr sz="1200" b="0" i="0">
              <a:solidFill>
                <a:srgbClr val="333333"/>
              </a:solidFill>
              <a:latin typeface="Calibri" panose="020F0502020204030204"/>
            </a:endParaRPr>
          </a:p>
        </p:txBody>
      </p:sp>
      <p:sp>
        <p:nvSpPr>
          <p:cNvPr id="34" name="TextBox 33"/>
          <p:cNvSpPr txBox="1"/>
          <p:nvPr/>
        </p:nvSpPr>
        <p:spPr>
          <a:xfrm>
            <a:off x="9966960" y="4818888"/>
            <a:ext cx="1645920" cy="365760"/>
          </a:xfrm>
          <a:prstGeom prst="rect">
            <a:avLst/>
          </a:prstGeom>
          <a:noFill/>
        </p:spPr>
        <p:txBody>
          <a:bodyPr wrap="square">
            <a:spAutoFit/>
          </a:bodyPr>
          <a:lstStyle/>
          <a:p>
            <a:pPr algn="r"/>
            <a:r>
              <a:rPr sz="1100" b="0" i="1">
                <a:solidFill>
                  <a:srgbClr val="005BAA"/>
                </a:solidFill>
                <a:latin typeface="Calibri" panose="020F0502020204030204"/>
              </a:rPr>
              <a:t>Slide 20</a:t>
            </a:r>
            <a:endParaRPr sz="1100" b="0" i="1">
              <a:solidFill>
                <a:srgbClr val="005BAA"/>
              </a:solidFill>
              <a:latin typeface="Calibri" panose="020F0502020204030204"/>
            </a:endParaRPr>
          </a:p>
        </p:txBody>
      </p:sp>
      <p:sp>
        <p:nvSpPr>
          <p:cNvPr id="36" name="Slide Number Placeholder 3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1: Introduction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Introduction</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1064240" cy="4937760"/>
          </a:xfrm>
          <a:prstGeom prst="rect">
            <a:avLst/>
          </a:prstGeom>
          <a:noFill/>
        </p:spPr>
        <p:txBody>
          <a:bodyPr wrap="square">
            <a:spAutoFit/>
          </a:bodyPr>
          <a:lstStyle/>
          <a:p>
            <a:pPr algn="l">
              <a:spcBef>
                <a:spcPts val="600"/>
              </a:spcBef>
            </a:pPr>
            <a:r>
              <a:rPr sz="1350">
                <a:solidFill>
                  <a:srgbClr val="333333"/>
                </a:solidFill>
                <a:latin typeface="Calibri" panose="020F0502020204030204"/>
              </a:rPr>
              <a:t>•  Background</a:t>
            </a:r>
            <a:endParaRPr sz="1350">
              <a:solidFill>
                <a:srgbClr val="333333"/>
              </a:solidFill>
              <a:latin typeface="Calibri" panose="020F0502020204030204"/>
            </a:endParaRPr>
          </a:p>
          <a:p>
            <a:pPr algn="l">
              <a:spcBef>
                <a:spcPts val="200"/>
              </a:spcBef>
            </a:pPr>
            <a:r>
              <a:rPr sz="1200">
                <a:solidFill>
                  <a:srgbClr val="333333"/>
                </a:solidFill>
                <a:latin typeface="Calibri" panose="020F0502020204030204"/>
              </a:rPr>
              <a:t>      ‒  Academic collaboration in universities increasingly relies on digital tools.</a:t>
            </a:r>
            <a:endParaRPr sz="1200">
              <a:solidFill>
                <a:srgbClr val="333333"/>
              </a:solidFill>
              <a:latin typeface="Calibri" panose="020F0502020204030204"/>
            </a:endParaRPr>
          </a:p>
          <a:p>
            <a:pPr algn="l">
              <a:spcBef>
                <a:spcPts val="200"/>
              </a:spcBef>
            </a:pPr>
            <a:r>
              <a:rPr sz="1200">
                <a:solidFill>
                  <a:srgbClr val="333333"/>
                </a:solidFill>
                <a:latin typeface="Calibri" panose="020F0502020204030204"/>
              </a:rPr>
              <a:t>      ‒  At AdtU, student-faculty communication happens largely through informal channels.</a:t>
            </a:r>
            <a:endParaRPr sz="1200">
              <a:solidFill>
                <a:srgbClr val="333333"/>
              </a:solidFill>
              <a:latin typeface="Calibri" panose="020F0502020204030204"/>
            </a:endParaRPr>
          </a:p>
          <a:p>
            <a:pPr algn="l">
              <a:spcBef>
                <a:spcPts val="200"/>
              </a:spcBef>
            </a:pPr>
            <a:r>
              <a:rPr sz="1200">
                <a:solidFill>
                  <a:srgbClr val="333333"/>
                </a:solidFill>
                <a:latin typeface="Calibri" panose="020F0502020204030204"/>
              </a:rPr>
              <a:t>      ‒  No centralised platform exists for subject-specific task and resource management.</a:t>
            </a:r>
            <a:endParaRPr sz="1200">
              <a:solidFill>
                <a:srgbClr val="333333"/>
              </a:solidFill>
              <a:latin typeface="Calibri" panose="020F0502020204030204"/>
            </a:endParaRPr>
          </a:p>
          <a:p>
            <a:pPr algn="l">
              <a:spcBef>
                <a:spcPts val="600"/>
              </a:spcBef>
            </a:pPr>
            <a:r>
              <a:rPr sz="1350">
                <a:solidFill>
                  <a:srgbClr val="333333"/>
                </a:solidFill>
                <a:latin typeface="Calibri" panose="020F0502020204030204"/>
              </a:rPr>
              <a:t>•  Need for the System</a:t>
            </a:r>
            <a:endParaRPr sz="1350">
              <a:solidFill>
                <a:srgbClr val="333333"/>
              </a:solidFill>
              <a:latin typeface="Calibri" panose="020F0502020204030204"/>
            </a:endParaRPr>
          </a:p>
          <a:p>
            <a:pPr algn="l">
              <a:spcBef>
                <a:spcPts val="200"/>
              </a:spcBef>
            </a:pPr>
            <a:r>
              <a:rPr sz="1200">
                <a:solidFill>
                  <a:srgbClr val="333333"/>
                </a:solidFill>
                <a:latin typeface="Calibri" panose="020F0502020204030204"/>
              </a:rPr>
              <a:t>      ‒  Students miss assignments due to buried messages in group chats.</a:t>
            </a:r>
            <a:endParaRPr sz="1200">
              <a:solidFill>
                <a:srgbClr val="333333"/>
              </a:solidFill>
              <a:latin typeface="Calibri" panose="020F0502020204030204"/>
            </a:endParaRPr>
          </a:p>
          <a:p>
            <a:pPr algn="l">
              <a:spcBef>
                <a:spcPts val="200"/>
              </a:spcBef>
            </a:pPr>
            <a:r>
              <a:rPr sz="1200">
                <a:solidFill>
                  <a:srgbClr val="333333"/>
                </a:solidFill>
                <a:latin typeface="Calibri" panose="020F0502020204030204"/>
              </a:rPr>
              <a:t>      ‒  Files and notes lack proper version control or searchability.</a:t>
            </a:r>
            <a:endParaRPr sz="1200">
              <a:solidFill>
                <a:srgbClr val="333333"/>
              </a:solidFill>
              <a:latin typeface="Calibri" panose="020F0502020204030204"/>
            </a:endParaRPr>
          </a:p>
          <a:p>
            <a:pPr algn="l">
              <a:spcBef>
                <a:spcPts val="200"/>
              </a:spcBef>
            </a:pPr>
            <a:r>
              <a:rPr sz="1200">
                <a:solidFill>
                  <a:srgbClr val="333333"/>
                </a:solidFill>
                <a:latin typeface="Calibri" panose="020F0502020204030204"/>
              </a:rPr>
              <a:t>      ‒  Faculty cannot track submissions or send targeted announcements efficiently.</a:t>
            </a:r>
            <a:endParaRPr sz="1200">
              <a:solidFill>
                <a:srgbClr val="333333"/>
              </a:solidFill>
              <a:latin typeface="Calibri" panose="020F0502020204030204"/>
            </a:endParaRPr>
          </a:p>
          <a:p>
            <a:pPr algn="l">
              <a:spcBef>
                <a:spcPts val="200"/>
              </a:spcBef>
            </a:pPr>
            <a:r>
              <a:rPr sz="1200">
                <a:solidFill>
                  <a:srgbClr val="333333"/>
                </a:solidFill>
                <a:latin typeface="Calibri" panose="020F0502020204030204"/>
              </a:rPr>
              <a:t>      ‒  A Jira-inspired workspace tailored for academic use is the logical solution.</a:t>
            </a:r>
            <a:endParaRPr sz="1200">
              <a:solidFill>
                <a:srgbClr val="333333"/>
              </a:solidFill>
              <a:latin typeface="Calibri" panose="020F0502020204030204"/>
            </a:endParaRPr>
          </a:p>
        </p:txBody>
      </p:sp>
      <p:sp>
        <p:nvSpPr>
          <p:cNvPr id="11" name="Slide Number Placeholder 10"/>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1: Introduction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Problem Statement</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1064240" cy="4937760"/>
          </a:xfrm>
          <a:prstGeom prst="rect">
            <a:avLst/>
          </a:prstGeom>
          <a:noFill/>
        </p:spPr>
        <p:txBody>
          <a:bodyPr wrap="square">
            <a:spAutoFit/>
          </a:bodyPr>
          <a:lstStyle/>
          <a:p>
            <a:pPr algn="l">
              <a:spcBef>
                <a:spcPts val="600"/>
              </a:spcBef>
            </a:pPr>
            <a:r>
              <a:rPr sz="1400">
                <a:solidFill>
                  <a:srgbClr val="333333"/>
                </a:solidFill>
                <a:latin typeface="Calibri" panose="020F0502020204030204"/>
              </a:rPr>
              <a:t>•  Students and faculty at AdtU lack a dedicated, subject-wise digital workspace for academic collaboration.</a:t>
            </a:r>
            <a:endParaRPr sz="1400">
              <a:solidFill>
                <a:srgbClr val="333333"/>
              </a:solidFill>
              <a:latin typeface="Calibri" panose="020F0502020204030204"/>
            </a:endParaRPr>
          </a:p>
          <a:p>
            <a:pPr algn="l">
              <a:spcBef>
                <a:spcPts val="600"/>
              </a:spcBef>
            </a:pPr>
            <a:r>
              <a:rPr sz="1400">
                <a:solidFill>
                  <a:srgbClr val="333333"/>
                </a:solidFill>
                <a:latin typeface="Calibri" panose="020F0502020204030204"/>
              </a:rPr>
              <a:t>•  Critical academic content (assignments, notes, files) is scattered across WhatsApp, email, and personal drives.</a:t>
            </a:r>
            <a:endParaRPr sz="1400">
              <a:solidFill>
                <a:srgbClr val="333333"/>
              </a:solidFill>
              <a:latin typeface="Calibri" panose="020F0502020204030204"/>
            </a:endParaRPr>
          </a:p>
          <a:p>
            <a:pPr algn="l">
              <a:spcBef>
                <a:spcPts val="600"/>
              </a:spcBef>
            </a:pPr>
            <a:r>
              <a:rPr sz="1400">
                <a:solidFill>
                  <a:srgbClr val="333333"/>
                </a:solidFill>
                <a:latin typeface="Calibri" panose="020F0502020204030204"/>
              </a:rPr>
              <a:t>•  There is no mechanism for real-time, subject-specific communication with proper role enforcement.</a:t>
            </a:r>
            <a:endParaRPr sz="1400">
              <a:solidFill>
                <a:srgbClr val="333333"/>
              </a:solidFill>
              <a:latin typeface="Calibri" panose="020F0502020204030204"/>
            </a:endParaRPr>
          </a:p>
          <a:p>
            <a:pPr algn="l">
              <a:spcBef>
                <a:spcPts val="600"/>
              </a:spcBef>
            </a:pPr>
            <a:r>
              <a:rPr sz="1400">
                <a:solidFill>
                  <a:srgbClr val="333333"/>
                </a:solidFill>
                <a:latin typeface="Calibri" panose="020F0502020204030204"/>
              </a:rPr>
              <a:t>•  Assignment deadlines, grading, and submission tracking are managed manually with no automation.</a:t>
            </a:r>
            <a:endParaRPr sz="1400">
              <a:solidFill>
                <a:srgbClr val="333333"/>
              </a:solidFill>
              <a:latin typeface="Calibri" panose="020F0502020204030204"/>
            </a:endParaRPr>
          </a:p>
          <a:p>
            <a:pPr algn="l">
              <a:spcBef>
                <a:spcPts val="600"/>
              </a:spcBef>
            </a:pPr>
            <a:r>
              <a:rPr sz="1400">
                <a:solidFill>
                  <a:srgbClr val="333333"/>
                </a:solidFill>
                <a:latin typeface="Calibri" panose="020F0502020204030204"/>
              </a:rPr>
              <a:t>•  Announcements posted in generic groups are frequently missed, causing delays and confusion.</a:t>
            </a:r>
            <a:endParaRPr sz="1400">
              <a:solidFill>
                <a:srgbClr val="333333"/>
              </a:solidFill>
              <a:latin typeface="Calibri" panose="020F0502020204030204"/>
            </a:endParaRPr>
          </a:p>
          <a:p>
            <a:pPr algn="l">
              <a:spcBef>
                <a:spcPts val="600"/>
              </a:spcBef>
            </a:pPr>
            <a:r>
              <a:rPr sz="1400">
                <a:solidFill>
                  <a:srgbClr val="333333"/>
                </a:solidFill>
                <a:latin typeface="Calibri" panose="020F0502020204030204"/>
              </a:rPr>
              <a:t>•  Existing LMS platforms are either too complex, unavailable, or not tailored to the AdtU academic structure.</a:t>
            </a:r>
            <a:endParaRPr sz="1400">
              <a:solidFill>
                <a:srgbClr val="333333"/>
              </a:solidFill>
              <a:latin typeface="Calibri" panose="020F0502020204030204"/>
            </a:endParaRPr>
          </a:p>
        </p:txBody>
      </p:sp>
      <p:sp>
        <p:nvSpPr>
          <p:cNvPr id="10" name="Rectangle 9"/>
          <p:cNvSpPr/>
          <p:nvPr/>
        </p:nvSpPr>
        <p:spPr>
          <a:xfrm>
            <a:off x="365760" y="5577840"/>
            <a:ext cx="11430000" cy="777240"/>
          </a:xfrm>
          <a:prstGeom prst="rect">
            <a:avLst/>
          </a:prstGeom>
          <a:solidFill>
            <a:srgbClr val="D6E8F7"/>
          </a:solidFill>
          <a:ln w="1270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650992"/>
            <a:ext cx="11155680" cy="640080"/>
          </a:xfrm>
          <a:prstGeom prst="rect">
            <a:avLst/>
          </a:prstGeom>
          <a:noFill/>
        </p:spPr>
        <p:txBody>
          <a:bodyPr wrap="square">
            <a:spAutoFit/>
          </a:bodyPr>
          <a:lstStyle/>
          <a:p>
            <a:pPr algn="l"/>
            <a:r>
              <a:rPr sz="1200" b="1" i="0">
                <a:solidFill>
                  <a:srgbClr val="00326E"/>
                </a:solidFill>
                <a:latin typeface="Calibri" panose="020F0502020204030204"/>
              </a:rPr>
              <a:t>Core Problem: The absence of a structured, real-time academic collaboration platform results in information loss, missed deadlines, and poor faculty–student communication.</a:t>
            </a:r>
            <a:endParaRPr sz="1200" b="1" i="0">
              <a:solidFill>
                <a:srgbClr val="00326E"/>
              </a:solidFill>
              <a:latin typeface="Calibri" panose="020F0502020204030204"/>
            </a:endParaRPr>
          </a:p>
        </p:txBody>
      </p:sp>
      <p:sp>
        <p:nvSpPr>
          <p:cNvPr id="13" name="Slide Number Placeholder 12"/>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1: Introduction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Objectives of the Project</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1064240" cy="4937760"/>
          </a:xfrm>
          <a:prstGeom prst="rect">
            <a:avLst/>
          </a:prstGeom>
          <a:noFill/>
        </p:spPr>
        <p:txBody>
          <a:bodyPr wrap="square">
            <a:spAutoFit/>
          </a:bodyPr>
          <a:lstStyle/>
          <a:p>
            <a:pPr algn="l">
              <a:spcBef>
                <a:spcPts val="600"/>
              </a:spcBef>
            </a:pPr>
            <a:r>
              <a:rPr sz="1350">
                <a:solidFill>
                  <a:srgbClr val="333333"/>
                </a:solidFill>
                <a:latin typeface="Calibri" panose="020F0502020204030204"/>
              </a:rPr>
              <a:t>•  Develop a subject-channel-based academic collaboration platform for AdtU students and faculty.</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Implement real-time messaging with file attachment support using Socket.IO within each subject channel.</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Build a structured assignment management system with deadline tracking, submission, and grading.</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Provide a centralised notes and file repository with cloud storage (Cloudinary) per subject.</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Implement role-based access control (Student / Class Representative / Faculty / Admin).</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Enable faculty to post and auto-distribute announcements with in-app notifications.</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Deploy the application on cloud infrastructure (Vercel + Render) for university-wide access.</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Design a clean, intuitive UI that requires zero technical training for students or faculty.</a:t>
            </a:r>
            <a:endParaRPr sz="1350">
              <a:solidFill>
                <a:srgbClr val="333333"/>
              </a:solidFill>
              <a:latin typeface="Calibri" panose="020F0502020204030204"/>
            </a:endParaRPr>
          </a:p>
        </p:txBody>
      </p:sp>
      <p:sp>
        <p:nvSpPr>
          <p:cNvPr id="11" name="Slide Number Placeholder 10"/>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2: System Overview</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Existing System</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17320"/>
            <a:ext cx="5303520" cy="4937760"/>
          </a:xfrm>
          <a:prstGeom prst="rect">
            <a:avLst/>
          </a:prstGeom>
          <a:noFill/>
        </p:spPr>
        <p:txBody>
          <a:bodyPr wrap="square">
            <a:spAutoFit/>
          </a:bodyPr>
          <a:lstStyle/>
          <a:p>
            <a:pPr algn="l">
              <a:spcBef>
                <a:spcPts val="600"/>
              </a:spcBef>
            </a:pPr>
            <a:r>
              <a:rPr sz="1300">
                <a:solidFill>
                  <a:srgbClr val="333333"/>
                </a:solidFill>
                <a:latin typeface="Calibri" panose="020F0502020204030204"/>
              </a:rPr>
              <a:t>•  Current Tools Used by Students</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WhatsApp groups — primary communication channel</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Email — for faculty-to-student announcements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Google Drive / Pen drives — for file sharing</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Verbal communication — for assignment details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Google Classroom — used informally, not integrated</a:t>
            </a:r>
            <a:endParaRPr sz="1150">
              <a:solidFill>
                <a:srgbClr val="333333"/>
              </a:solidFill>
              <a:latin typeface="Calibri" panose="020F0502020204030204"/>
            </a:endParaRPr>
          </a:p>
        </p:txBody>
      </p:sp>
      <p:sp>
        <p:nvSpPr>
          <p:cNvPr id="10" name="Rectangle 9"/>
          <p:cNvSpPr/>
          <p:nvPr/>
        </p:nvSpPr>
        <p:spPr>
          <a:xfrm>
            <a:off x="5989320" y="1417320"/>
            <a:ext cx="19050" cy="475488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417320"/>
            <a:ext cx="5486400" cy="4937760"/>
          </a:xfrm>
          <a:prstGeom prst="rect">
            <a:avLst/>
          </a:prstGeom>
          <a:noFill/>
        </p:spPr>
        <p:txBody>
          <a:bodyPr wrap="square">
            <a:spAutoFit/>
          </a:bodyPr>
          <a:lstStyle/>
          <a:p>
            <a:pPr algn="l">
              <a:spcBef>
                <a:spcPts val="600"/>
              </a:spcBef>
            </a:pPr>
            <a:r>
              <a:rPr sz="1300">
                <a:solidFill>
                  <a:srgbClr val="333333"/>
                </a:solidFill>
                <a:latin typeface="Calibri" panose="020F0502020204030204"/>
              </a:rPr>
              <a:t>•  Limitations of Existing Approach</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No subject-specific separation — all messages mixed in one chat</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Files and media get buried under chat history</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No assignment tracking, submission, or grading workflow</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No role control — anyone can post anything</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Real-time notifications are absent or unreliable</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No persistent, searchable academic knowledge base</a:t>
            </a:r>
            <a:endParaRPr sz="1150">
              <a:solidFill>
                <a:srgbClr val="333333"/>
              </a:solidFill>
              <a:latin typeface="Calibri" panose="020F0502020204030204"/>
            </a:endParaRPr>
          </a:p>
        </p:txBody>
      </p:sp>
      <p:sp>
        <p:nvSpPr>
          <p:cNvPr id="13" name="Slide Number Placeholder 12"/>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2: System Overview</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Proposed System</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1064240" cy="4937760"/>
          </a:xfrm>
          <a:prstGeom prst="rect">
            <a:avLst/>
          </a:prstGeom>
          <a:noFill/>
        </p:spPr>
        <p:txBody>
          <a:bodyPr wrap="square">
            <a:spAutoFit/>
          </a:bodyPr>
          <a:lstStyle/>
          <a:p>
            <a:pPr algn="l">
              <a:spcBef>
                <a:spcPts val="600"/>
              </a:spcBef>
            </a:pPr>
            <a:r>
              <a:rPr sz="1300">
                <a:solidFill>
                  <a:srgbClr val="333333"/>
                </a:solidFill>
                <a:latin typeface="Calibri" panose="020F0502020204030204"/>
              </a:rPr>
              <a:t>•  ADTU Collab — Jira for Students</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A full-stack, cloud-hosted academic collaboration platform purpose-built for AdtU.</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Organises all academic activity into structured Subject Channels per batch and semester.</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Each channel contains: Chat, Notes, Assignments, Files, and Announcements tabs.</a:t>
            </a:r>
            <a:endParaRPr sz="1150">
              <a:solidFill>
                <a:srgbClr val="333333"/>
              </a:solidFill>
              <a:latin typeface="Calibri" panose="020F0502020204030204"/>
            </a:endParaRPr>
          </a:p>
          <a:p>
            <a:pPr algn="l">
              <a:spcBef>
                <a:spcPts val="600"/>
              </a:spcBef>
            </a:pPr>
            <a:r>
              <a:rPr sz="1300">
                <a:solidFill>
                  <a:srgbClr val="333333"/>
                </a:solidFill>
                <a:latin typeface="Calibri" panose="020F0502020204030204"/>
              </a:rPr>
              <a:t>•  How It Works</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Students log in using their university roll number and date-of-birth (auto-password).</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They are automatically enrolled in all subject channels for their programme &amp; semester.</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Real-time Socket.IO messaging allows instant subject-specific conversation.</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Faculty create assignments with deadlines; students submit directly in the platform.</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All files are uploaded securely to Cloudinary — accessible from anywhere.</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Notifications are delivered in-app and in real-time whenever events occur.</a:t>
            </a:r>
            <a:endParaRPr sz="1150">
              <a:solidFill>
                <a:srgbClr val="333333"/>
              </a:solidFill>
              <a:latin typeface="Calibri" panose="020F0502020204030204"/>
            </a:endParaRPr>
          </a:p>
          <a:p>
            <a:pPr algn="l">
              <a:spcBef>
                <a:spcPts val="600"/>
              </a:spcBef>
            </a:pPr>
            <a:r>
              <a:rPr sz="1300">
                <a:solidFill>
                  <a:srgbClr val="333333"/>
                </a:solidFill>
                <a:latin typeface="Calibri" panose="020F0502020204030204"/>
              </a:rPr>
              <a:t>•  Deployment</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Frontend hosted on Vercel | Backend hosted on Render | DB on Supabase (PostgreSQL)</a:t>
            </a:r>
            <a:endParaRPr sz="1150">
              <a:solidFill>
                <a:srgbClr val="333333"/>
              </a:solidFill>
              <a:latin typeface="Calibri" panose="020F0502020204030204"/>
            </a:endParaRPr>
          </a:p>
        </p:txBody>
      </p:sp>
      <p:sp>
        <p:nvSpPr>
          <p:cNvPr id="11" name="Slide Number Placeholder 10"/>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2: System Overview</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Key Features (Implemented)</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17320"/>
            <a:ext cx="5486400" cy="96012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08760"/>
            <a:ext cx="5212080" cy="347472"/>
          </a:xfrm>
          <a:prstGeom prst="rect">
            <a:avLst/>
          </a:prstGeom>
          <a:noFill/>
        </p:spPr>
        <p:txBody>
          <a:bodyPr wrap="square">
            <a:spAutoFit/>
          </a:bodyPr>
          <a:lstStyle/>
          <a:p>
            <a:pPr algn="l"/>
            <a:r>
              <a:rPr sz="1200" b="1" i="0">
                <a:solidFill>
                  <a:srgbClr val="00326E"/>
                </a:solidFill>
                <a:latin typeface="Calibri" panose="020F0502020204030204"/>
              </a:rPr>
              <a:t>💬 Real-Time Chat</a:t>
            </a:r>
            <a:endParaRPr sz="1200" b="1" i="0">
              <a:solidFill>
                <a:srgbClr val="00326E"/>
              </a:solidFill>
              <a:latin typeface="Calibri" panose="020F0502020204030204"/>
            </a:endParaRPr>
          </a:p>
        </p:txBody>
      </p:sp>
      <p:sp>
        <p:nvSpPr>
          <p:cNvPr id="11" name="TextBox 10"/>
          <p:cNvSpPr txBox="1"/>
          <p:nvPr/>
        </p:nvSpPr>
        <p:spPr>
          <a:xfrm>
            <a:off x="502920" y="1856232"/>
            <a:ext cx="5212080" cy="457200"/>
          </a:xfrm>
          <a:prstGeom prst="rect">
            <a:avLst/>
          </a:prstGeom>
          <a:noFill/>
        </p:spPr>
        <p:txBody>
          <a:bodyPr wrap="square">
            <a:spAutoFit/>
          </a:bodyPr>
          <a:lstStyle/>
          <a:p>
            <a:pPr algn="l"/>
            <a:r>
              <a:rPr sz="1100" b="0" i="0">
                <a:solidFill>
                  <a:srgbClr val="333333"/>
                </a:solidFill>
                <a:latin typeface="Calibri" panose="020F0502020204030204"/>
              </a:rPr>
              <a:t>Socket.IO powered messaging with file attachments &amp; typing indicators</a:t>
            </a:r>
            <a:endParaRPr sz="1100" b="0" i="0">
              <a:solidFill>
                <a:srgbClr val="333333"/>
              </a:solidFill>
              <a:latin typeface="Calibri" panose="020F0502020204030204"/>
            </a:endParaRPr>
          </a:p>
        </p:txBody>
      </p:sp>
      <p:sp>
        <p:nvSpPr>
          <p:cNvPr id="12" name="Rectangle 11"/>
          <p:cNvSpPr/>
          <p:nvPr/>
        </p:nvSpPr>
        <p:spPr>
          <a:xfrm>
            <a:off x="365760" y="2514600"/>
            <a:ext cx="5486400" cy="96012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606040"/>
            <a:ext cx="5212080" cy="347472"/>
          </a:xfrm>
          <a:prstGeom prst="rect">
            <a:avLst/>
          </a:prstGeom>
          <a:noFill/>
        </p:spPr>
        <p:txBody>
          <a:bodyPr wrap="square">
            <a:spAutoFit/>
          </a:bodyPr>
          <a:lstStyle/>
          <a:p>
            <a:pPr algn="l"/>
            <a:r>
              <a:rPr sz="1200" b="1" i="0">
                <a:solidFill>
                  <a:srgbClr val="00326E"/>
                </a:solidFill>
                <a:latin typeface="Calibri" panose="020F0502020204030204"/>
              </a:rPr>
              <a:t>📚 Notes Repository</a:t>
            </a:r>
            <a:endParaRPr sz="1200" b="1" i="0">
              <a:solidFill>
                <a:srgbClr val="00326E"/>
              </a:solidFill>
              <a:latin typeface="Calibri" panose="020F0502020204030204"/>
            </a:endParaRPr>
          </a:p>
        </p:txBody>
      </p:sp>
      <p:sp>
        <p:nvSpPr>
          <p:cNvPr id="14" name="TextBox 13"/>
          <p:cNvSpPr txBox="1"/>
          <p:nvPr/>
        </p:nvSpPr>
        <p:spPr>
          <a:xfrm>
            <a:off x="502920" y="2953512"/>
            <a:ext cx="5212080" cy="457200"/>
          </a:xfrm>
          <a:prstGeom prst="rect">
            <a:avLst/>
          </a:prstGeom>
          <a:noFill/>
        </p:spPr>
        <p:txBody>
          <a:bodyPr wrap="square">
            <a:spAutoFit/>
          </a:bodyPr>
          <a:lstStyle/>
          <a:p>
            <a:pPr algn="l"/>
            <a:r>
              <a:rPr sz="1100" b="0" i="0">
                <a:solidFill>
                  <a:srgbClr val="333333"/>
                </a:solidFill>
                <a:latin typeface="Calibri" panose="020F0502020204030204"/>
              </a:rPr>
              <a:t>Faculty/CR-created text notes per subject; searchable and persistent</a:t>
            </a:r>
            <a:endParaRPr sz="1100" b="0" i="0">
              <a:solidFill>
                <a:srgbClr val="333333"/>
              </a:solidFill>
              <a:latin typeface="Calibri" panose="020F0502020204030204"/>
            </a:endParaRPr>
          </a:p>
        </p:txBody>
      </p:sp>
      <p:sp>
        <p:nvSpPr>
          <p:cNvPr id="15" name="Rectangle 14"/>
          <p:cNvSpPr/>
          <p:nvPr/>
        </p:nvSpPr>
        <p:spPr>
          <a:xfrm>
            <a:off x="365760" y="3611880"/>
            <a:ext cx="5486400" cy="96012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703320"/>
            <a:ext cx="5212080" cy="347472"/>
          </a:xfrm>
          <a:prstGeom prst="rect">
            <a:avLst/>
          </a:prstGeom>
          <a:noFill/>
        </p:spPr>
        <p:txBody>
          <a:bodyPr wrap="square">
            <a:spAutoFit/>
          </a:bodyPr>
          <a:lstStyle/>
          <a:p>
            <a:pPr algn="l"/>
            <a:r>
              <a:rPr sz="1200" b="1" i="0">
                <a:solidFill>
                  <a:srgbClr val="00326E"/>
                </a:solidFill>
                <a:latin typeface="Calibri" panose="020F0502020204030204"/>
              </a:rPr>
              <a:t>📋 Assignment System</a:t>
            </a:r>
            <a:endParaRPr sz="1200" b="1" i="0">
              <a:solidFill>
                <a:srgbClr val="00326E"/>
              </a:solidFill>
              <a:latin typeface="Calibri" panose="020F0502020204030204"/>
            </a:endParaRPr>
          </a:p>
        </p:txBody>
      </p:sp>
      <p:sp>
        <p:nvSpPr>
          <p:cNvPr id="17" name="TextBox 16"/>
          <p:cNvSpPr txBox="1"/>
          <p:nvPr/>
        </p:nvSpPr>
        <p:spPr>
          <a:xfrm>
            <a:off x="502920" y="4050792"/>
            <a:ext cx="5212080" cy="457200"/>
          </a:xfrm>
          <a:prstGeom prst="rect">
            <a:avLst/>
          </a:prstGeom>
          <a:noFill/>
        </p:spPr>
        <p:txBody>
          <a:bodyPr wrap="square">
            <a:spAutoFit/>
          </a:bodyPr>
          <a:lstStyle/>
          <a:p>
            <a:pPr algn="l"/>
            <a:r>
              <a:rPr sz="1100" b="0" i="0">
                <a:solidFill>
                  <a:srgbClr val="333333"/>
                </a:solidFill>
                <a:latin typeface="Calibri" panose="020F0502020204030204"/>
              </a:rPr>
              <a:t>Create, submit, and grade assignments with deadline &amp; status tracking</a:t>
            </a:r>
            <a:endParaRPr sz="1100" b="0" i="0">
              <a:solidFill>
                <a:srgbClr val="333333"/>
              </a:solidFill>
              <a:latin typeface="Calibri" panose="020F0502020204030204"/>
            </a:endParaRPr>
          </a:p>
        </p:txBody>
      </p:sp>
      <p:sp>
        <p:nvSpPr>
          <p:cNvPr id="18" name="Rectangle 17"/>
          <p:cNvSpPr/>
          <p:nvPr/>
        </p:nvSpPr>
        <p:spPr>
          <a:xfrm>
            <a:off x="365760" y="4709160"/>
            <a:ext cx="5486400" cy="96012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800600"/>
            <a:ext cx="5212080" cy="347472"/>
          </a:xfrm>
          <a:prstGeom prst="rect">
            <a:avLst/>
          </a:prstGeom>
          <a:noFill/>
        </p:spPr>
        <p:txBody>
          <a:bodyPr wrap="square">
            <a:spAutoFit/>
          </a:bodyPr>
          <a:lstStyle/>
          <a:p>
            <a:pPr algn="l"/>
            <a:r>
              <a:rPr sz="1200" b="1" i="0">
                <a:solidFill>
                  <a:srgbClr val="00326E"/>
                </a:solidFill>
                <a:latin typeface="Calibri" panose="020F0502020204030204"/>
              </a:rPr>
              <a:t>📢 Announcements</a:t>
            </a:r>
            <a:endParaRPr sz="1200" b="1" i="0">
              <a:solidFill>
                <a:srgbClr val="00326E"/>
              </a:solidFill>
              <a:latin typeface="Calibri" panose="020F0502020204030204"/>
            </a:endParaRPr>
          </a:p>
        </p:txBody>
      </p:sp>
      <p:sp>
        <p:nvSpPr>
          <p:cNvPr id="20" name="TextBox 19"/>
          <p:cNvSpPr txBox="1"/>
          <p:nvPr/>
        </p:nvSpPr>
        <p:spPr>
          <a:xfrm>
            <a:off x="502920" y="5148072"/>
            <a:ext cx="5212080" cy="457200"/>
          </a:xfrm>
          <a:prstGeom prst="rect">
            <a:avLst/>
          </a:prstGeom>
          <a:noFill/>
        </p:spPr>
        <p:txBody>
          <a:bodyPr wrap="square">
            <a:spAutoFit/>
          </a:bodyPr>
          <a:lstStyle/>
          <a:p>
            <a:pPr algn="l"/>
            <a:r>
              <a:rPr sz="1100" b="0" i="0">
                <a:solidFill>
                  <a:srgbClr val="333333"/>
                </a:solidFill>
                <a:latin typeface="Calibri" panose="020F0502020204030204"/>
              </a:rPr>
              <a:t>Faculty posts auto-notify all enrolled students in real time</a:t>
            </a:r>
            <a:endParaRPr sz="1100" b="0" i="0">
              <a:solidFill>
                <a:srgbClr val="333333"/>
              </a:solidFill>
              <a:latin typeface="Calibri" panose="020F0502020204030204"/>
            </a:endParaRPr>
          </a:p>
        </p:txBody>
      </p:sp>
      <p:sp>
        <p:nvSpPr>
          <p:cNvPr id="21" name="Rectangle 20"/>
          <p:cNvSpPr/>
          <p:nvPr/>
        </p:nvSpPr>
        <p:spPr>
          <a:xfrm>
            <a:off x="6309360" y="1417320"/>
            <a:ext cx="5486400" cy="96012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1508760"/>
            <a:ext cx="5212080" cy="347472"/>
          </a:xfrm>
          <a:prstGeom prst="rect">
            <a:avLst/>
          </a:prstGeom>
          <a:noFill/>
        </p:spPr>
        <p:txBody>
          <a:bodyPr wrap="square">
            <a:spAutoFit/>
          </a:bodyPr>
          <a:lstStyle/>
          <a:p>
            <a:pPr algn="l"/>
            <a:r>
              <a:rPr sz="1200" b="1" i="0">
                <a:solidFill>
                  <a:srgbClr val="00326E"/>
                </a:solidFill>
                <a:latin typeface="Calibri" panose="020F0502020204030204"/>
              </a:rPr>
              <a:t>🔔 Notifications</a:t>
            </a:r>
            <a:endParaRPr sz="1200" b="1" i="0">
              <a:solidFill>
                <a:srgbClr val="00326E"/>
              </a:solidFill>
              <a:latin typeface="Calibri" panose="020F0502020204030204"/>
            </a:endParaRPr>
          </a:p>
        </p:txBody>
      </p:sp>
      <p:sp>
        <p:nvSpPr>
          <p:cNvPr id="23" name="TextBox 22"/>
          <p:cNvSpPr txBox="1"/>
          <p:nvPr/>
        </p:nvSpPr>
        <p:spPr>
          <a:xfrm>
            <a:off x="6446520" y="1856232"/>
            <a:ext cx="5212080" cy="457200"/>
          </a:xfrm>
          <a:prstGeom prst="rect">
            <a:avLst/>
          </a:prstGeom>
          <a:noFill/>
        </p:spPr>
        <p:txBody>
          <a:bodyPr wrap="square">
            <a:spAutoFit/>
          </a:bodyPr>
          <a:lstStyle/>
          <a:p>
            <a:pPr algn="l"/>
            <a:r>
              <a:rPr sz="1100" b="0" i="0">
                <a:solidFill>
                  <a:srgbClr val="333333"/>
                </a:solidFill>
                <a:latin typeface="Calibri" panose="020F0502020204030204"/>
              </a:rPr>
              <a:t>In-app, real-time notification system for assignments &amp; announcements</a:t>
            </a:r>
            <a:endParaRPr sz="1100" b="0" i="0">
              <a:solidFill>
                <a:srgbClr val="333333"/>
              </a:solidFill>
              <a:latin typeface="Calibri" panose="020F0502020204030204"/>
            </a:endParaRPr>
          </a:p>
        </p:txBody>
      </p:sp>
      <p:sp>
        <p:nvSpPr>
          <p:cNvPr id="24" name="Rectangle 23"/>
          <p:cNvSpPr/>
          <p:nvPr/>
        </p:nvSpPr>
        <p:spPr>
          <a:xfrm>
            <a:off x="6309360" y="2514600"/>
            <a:ext cx="5486400" cy="96012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606040"/>
            <a:ext cx="5212080" cy="347472"/>
          </a:xfrm>
          <a:prstGeom prst="rect">
            <a:avLst/>
          </a:prstGeom>
          <a:noFill/>
        </p:spPr>
        <p:txBody>
          <a:bodyPr wrap="square">
            <a:spAutoFit/>
          </a:bodyPr>
          <a:lstStyle/>
          <a:p>
            <a:pPr algn="l"/>
            <a:r>
              <a:rPr sz="1200" b="1" i="0">
                <a:solidFill>
                  <a:srgbClr val="00326E"/>
                </a:solidFill>
                <a:latin typeface="Calibri" panose="020F0502020204030204"/>
              </a:rPr>
              <a:t>🔐 Role-Based Access</a:t>
            </a:r>
            <a:endParaRPr sz="1200" b="1" i="0">
              <a:solidFill>
                <a:srgbClr val="00326E"/>
              </a:solidFill>
              <a:latin typeface="Calibri" panose="020F0502020204030204"/>
            </a:endParaRPr>
          </a:p>
        </p:txBody>
      </p:sp>
      <p:sp>
        <p:nvSpPr>
          <p:cNvPr id="26" name="TextBox 25"/>
          <p:cNvSpPr txBox="1"/>
          <p:nvPr/>
        </p:nvSpPr>
        <p:spPr>
          <a:xfrm>
            <a:off x="6446520" y="2953512"/>
            <a:ext cx="5212080" cy="457200"/>
          </a:xfrm>
          <a:prstGeom prst="rect">
            <a:avLst/>
          </a:prstGeom>
          <a:noFill/>
        </p:spPr>
        <p:txBody>
          <a:bodyPr wrap="square">
            <a:spAutoFit/>
          </a:bodyPr>
          <a:lstStyle/>
          <a:p>
            <a:pPr algn="l"/>
            <a:r>
              <a:rPr sz="1100" b="0" i="0">
                <a:solidFill>
                  <a:srgbClr val="333333"/>
                </a:solidFill>
                <a:latin typeface="Calibri" panose="020F0502020204030204"/>
              </a:rPr>
              <a:t>Four roles: Student, Class Representative, Faculty, Admin</a:t>
            </a:r>
            <a:endParaRPr sz="1100" b="0" i="0">
              <a:solidFill>
                <a:srgbClr val="333333"/>
              </a:solidFill>
              <a:latin typeface="Calibri" panose="020F0502020204030204"/>
            </a:endParaRPr>
          </a:p>
        </p:txBody>
      </p:sp>
      <p:sp>
        <p:nvSpPr>
          <p:cNvPr id="27" name="Rectangle 26"/>
          <p:cNvSpPr/>
          <p:nvPr/>
        </p:nvSpPr>
        <p:spPr>
          <a:xfrm>
            <a:off x="6309360" y="3611880"/>
            <a:ext cx="5486400" cy="96012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3703320"/>
            <a:ext cx="5212080" cy="347472"/>
          </a:xfrm>
          <a:prstGeom prst="rect">
            <a:avLst/>
          </a:prstGeom>
          <a:noFill/>
        </p:spPr>
        <p:txBody>
          <a:bodyPr wrap="square">
            <a:spAutoFit/>
          </a:bodyPr>
          <a:lstStyle/>
          <a:p>
            <a:pPr algn="l"/>
            <a:r>
              <a:rPr sz="1200" b="1" i="0">
                <a:solidFill>
                  <a:srgbClr val="00326E"/>
                </a:solidFill>
                <a:latin typeface="Calibri" panose="020F0502020204030204"/>
              </a:rPr>
              <a:t>☁️ Cloud File Storage</a:t>
            </a:r>
            <a:endParaRPr sz="1200" b="1" i="0">
              <a:solidFill>
                <a:srgbClr val="00326E"/>
              </a:solidFill>
              <a:latin typeface="Calibri" panose="020F0502020204030204"/>
            </a:endParaRPr>
          </a:p>
        </p:txBody>
      </p:sp>
      <p:sp>
        <p:nvSpPr>
          <p:cNvPr id="29" name="TextBox 28"/>
          <p:cNvSpPr txBox="1"/>
          <p:nvPr/>
        </p:nvSpPr>
        <p:spPr>
          <a:xfrm>
            <a:off x="6446520" y="4050792"/>
            <a:ext cx="5212080" cy="457200"/>
          </a:xfrm>
          <a:prstGeom prst="rect">
            <a:avLst/>
          </a:prstGeom>
          <a:noFill/>
        </p:spPr>
        <p:txBody>
          <a:bodyPr wrap="square">
            <a:spAutoFit/>
          </a:bodyPr>
          <a:lstStyle/>
          <a:p>
            <a:pPr algn="l"/>
            <a:r>
              <a:rPr sz="1100" b="0" i="0">
                <a:solidFill>
                  <a:srgbClr val="333333"/>
                </a:solidFill>
                <a:latin typeface="Calibri" panose="020F0502020204030204"/>
              </a:rPr>
              <a:t>Cloudinary integration — all files available online, no data loss</a:t>
            </a:r>
            <a:endParaRPr sz="1100" b="0" i="0">
              <a:solidFill>
                <a:srgbClr val="333333"/>
              </a:solidFill>
              <a:latin typeface="Calibri" panose="020F0502020204030204"/>
            </a:endParaRPr>
          </a:p>
        </p:txBody>
      </p:sp>
      <p:sp>
        <p:nvSpPr>
          <p:cNvPr id="30" name="Rectangle 29"/>
          <p:cNvSpPr/>
          <p:nvPr/>
        </p:nvSpPr>
        <p:spPr>
          <a:xfrm>
            <a:off x="6309360" y="4709160"/>
            <a:ext cx="5486400" cy="96012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4800600"/>
            <a:ext cx="5212080" cy="347472"/>
          </a:xfrm>
          <a:prstGeom prst="rect">
            <a:avLst/>
          </a:prstGeom>
          <a:noFill/>
        </p:spPr>
        <p:txBody>
          <a:bodyPr wrap="square">
            <a:spAutoFit/>
          </a:bodyPr>
          <a:lstStyle/>
          <a:p>
            <a:pPr algn="l"/>
            <a:r>
              <a:rPr sz="1200" b="1" i="0">
                <a:solidFill>
                  <a:srgbClr val="00326E"/>
                </a:solidFill>
                <a:latin typeface="Calibri" panose="020F0502020204030204"/>
              </a:rPr>
              <a:t>📅 Calendar View</a:t>
            </a:r>
            <a:endParaRPr sz="1200" b="1" i="0">
              <a:solidFill>
                <a:srgbClr val="00326E"/>
              </a:solidFill>
              <a:latin typeface="Calibri" panose="020F0502020204030204"/>
            </a:endParaRPr>
          </a:p>
        </p:txBody>
      </p:sp>
      <p:sp>
        <p:nvSpPr>
          <p:cNvPr id="32" name="TextBox 31"/>
          <p:cNvSpPr txBox="1"/>
          <p:nvPr/>
        </p:nvSpPr>
        <p:spPr>
          <a:xfrm>
            <a:off x="6446520" y="5148072"/>
            <a:ext cx="5212080" cy="457200"/>
          </a:xfrm>
          <a:prstGeom prst="rect">
            <a:avLst/>
          </a:prstGeom>
          <a:noFill/>
        </p:spPr>
        <p:txBody>
          <a:bodyPr wrap="square">
            <a:spAutoFit/>
          </a:bodyPr>
          <a:lstStyle/>
          <a:p>
            <a:pPr algn="l"/>
            <a:r>
              <a:rPr sz="1100" b="0" i="0">
                <a:solidFill>
                  <a:srgbClr val="333333"/>
                </a:solidFill>
                <a:latin typeface="Calibri" panose="020F0502020204030204"/>
              </a:rPr>
              <a:t>Global deadline calendar showing upcoming assignments across subjects</a:t>
            </a:r>
            <a:endParaRPr sz="1100" b="0" i="0">
              <a:solidFill>
                <a:srgbClr val="333333"/>
              </a:solidFill>
              <a:latin typeface="Calibri" panose="020F0502020204030204"/>
            </a:endParaRPr>
          </a:p>
        </p:txBody>
      </p:sp>
      <p:sp>
        <p:nvSpPr>
          <p:cNvPr id="34" name="Slide Number Placeholder 33"/>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3: System Design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System Architecture</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44752"/>
            <a:ext cx="11430000" cy="868680"/>
          </a:xfrm>
          <a:prstGeom prst="rect">
            <a:avLst/>
          </a:prstGeom>
          <a:solidFill>
            <a:srgbClr val="D6E8F7"/>
          </a:solidFill>
          <a:ln w="10160">
            <a:solidFill>
              <a:srgbClr val="0032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90472"/>
            <a:ext cx="3657600" cy="347472"/>
          </a:xfrm>
          <a:prstGeom prst="rect">
            <a:avLst/>
          </a:prstGeom>
          <a:noFill/>
        </p:spPr>
        <p:txBody>
          <a:bodyPr wrap="square">
            <a:spAutoFit/>
          </a:bodyPr>
          <a:lstStyle/>
          <a:p>
            <a:pPr algn="l"/>
            <a:r>
              <a:rPr sz="1200" b="1" i="0">
                <a:solidFill>
                  <a:srgbClr val="00326E"/>
                </a:solidFill>
                <a:latin typeface="Calibri" panose="020F0502020204030204"/>
              </a:rPr>
              <a:t>Presentation Layer (Frontend)</a:t>
            </a:r>
            <a:endParaRPr sz="1200" b="1" i="0">
              <a:solidFill>
                <a:srgbClr val="00326E"/>
              </a:solidFill>
              <a:latin typeface="Calibri" panose="020F0502020204030204"/>
            </a:endParaRPr>
          </a:p>
        </p:txBody>
      </p:sp>
      <p:sp>
        <p:nvSpPr>
          <p:cNvPr id="11" name="Rectangle 10"/>
          <p:cNvSpPr/>
          <p:nvPr/>
        </p:nvSpPr>
        <p:spPr>
          <a:xfrm>
            <a:off x="4297680" y="1627632"/>
            <a:ext cx="12700"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554480"/>
            <a:ext cx="7132320" cy="640080"/>
          </a:xfrm>
          <a:prstGeom prst="rect">
            <a:avLst/>
          </a:prstGeom>
          <a:noFill/>
        </p:spPr>
        <p:txBody>
          <a:bodyPr wrap="square">
            <a:spAutoFit/>
          </a:bodyPr>
          <a:lstStyle/>
          <a:p>
            <a:pPr algn="l"/>
            <a:r>
              <a:rPr sz="1100" b="0" i="0">
                <a:solidFill>
                  <a:srgbClr val="333333"/>
                </a:solidFill>
                <a:latin typeface="Calibri" panose="020F0502020204030204"/>
              </a:rPr>
              <a:t>React 18 + Vite + Tailwind CSS | React Router DOM | Axios | Socket.IO-Client</a:t>
            </a:r>
            <a:endParaRPr sz="1100" b="0" i="0">
              <a:solidFill>
                <a:srgbClr val="333333"/>
              </a:solidFill>
              <a:latin typeface="Calibri" panose="020F0502020204030204"/>
            </a:endParaRPr>
          </a:p>
        </p:txBody>
      </p:sp>
      <p:sp>
        <p:nvSpPr>
          <p:cNvPr id="13" name="Rectangle 12"/>
          <p:cNvSpPr/>
          <p:nvPr/>
        </p:nvSpPr>
        <p:spPr>
          <a:xfrm>
            <a:off x="365760" y="2414016"/>
            <a:ext cx="11430000" cy="868680"/>
          </a:xfrm>
          <a:prstGeom prst="rect">
            <a:avLst/>
          </a:prstGeom>
          <a:solidFill>
            <a:srgbClr val="D6F5E8"/>
          </a:solidFill>
          <a:ln w="10160">
            <a:solidFill>
              <a:srgbClr val="005C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59736"/>
            <a:ext cx="3657600" cy="347472"/>
          </a:xfrm>
          <a:prstGeom prst="rect">
            <a:avLst/>
          </a:prstGeom>
          <a:noFill/>
        </p:spPr>
        <p:txBody>
          <a:bodyPr wrap="square">
            <a:spAutoFit/>
          </a:bodyPr>
          <a:lstStyle/>
          <a:p>
            <a:pPr algn="l"/>
            <a:r>
              <a:rPr sz="1200" b="1" i="0">
                <a:solidFill>
                  <a:srgbClr val="005C2E"/>
                </a:solidFill>
                <a:latin typeface="Calibri" panose="020F0502020204030204"/>
              </a:rPr>
              <a:t>API Layer (Backend)</a:t>
            </a:r>
            <a:endParaRPr sz="1200" b="1" i="0">
              <a:solidFill>
                <a:srgbClr val="005C2E"/>
              </a:solidFill>
              <a:latin typeface="Calibri" panose="020F0502020204030204"/>
            </a:endParaRPr>
          </a:p>
        </p:txBody>
      </p:sp>
      <p:sp>
        <p:nvSpPr>
          <p:cNvPr id="15" name="Rectangle 14"/>
          <p:cNvSpPr/>
          <p:nvPr/>
        </p:nvSpPr>
        <p:spPr>
          <a:xfrm>
            <a:off x="4297680" y="2596896"/>
            <a:ext cx="12700" cy="502920"/>
          </a:xfrm>
          <a:prstGeom prst="rect">
            <a:avLst/>
          </a:prstGeom>
          <a:solidFill>
            <a:srgbClr val="005C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523744"/>
            <a:ext cx="7132320" cy="640080"/>
          </a:xfrm>
          <a:prstGeom prst="rect">
            <a:avLst/>
          </a:prstGeom>
          <a:noFill/>
        </p:spPr>
        <p:txBody>
          <a:bodyPr wrap="square">
            <a:spAutoFit/>
          </a:bodyPr>
          <a:lstStyle/>
          <a:p>
            <a:pPr algn="l"/>
            <a:r>
              <a:rPr sz="1100" b="0" i="0">
                <a:solidFill>
                  <a:srgbClr val="333333"/>
                </a:solidFill>
                <a:latin typeface="Calibri" panose="020F0502020204030204"/>
              </a:rPr>
              <a:t>Node.js + Express.js | REST API (10 route modules) | JWT Authentication | Multer</a:t>
            </a:r>
            <a:endParaRPr sz="1100" b="0" i="0">
              <a:solidFill>
                <a:srgbClr val="333333"/>
              </a:solidFill>
              <a:latin typeface="Calibri" panose="020F0502020204030204"/>
            </a:endParaRPr>
          </a:p>
        </p:txBody>
      </p:sp>
      <p:sp>
        <p:nvSpPr>
          <p:cNvPr id="17" name="Rectangle 16"/>
          <p:cNvSpPr/>
          <p:nvPr/>
        </p:nvSpPr>
        <p:spPr>
          <a:xfrm>
            <a:off x="365760" y="3383280"/>
            <a:ext cx="11430000" cy="868680"/>
          </a:xfrm>
          <a:prstGeom prst="rect">
            <a:avLst/>
          </a:prstGeom>
          <a:solidFill>
            <a:srgbClr val="FFF3CD"/>
          </a:solidFill>
          <a:ln w="10160">
            <a:solidFill>
              <a:srgbClr val="7A5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429000"/>
            <a:ext cx="3657600" cy="347472"/>
          </a:xfrm>
          <a:prstGeom prst="rect">
            <a:avLst/>
          </a:prstGeom>
          <a:noFill/>
        </p:spPr>
        <p:txBody>
          <a:bodyPr wrap="square">
            <a:spAutoFit/>
          </a:bodyPr>
          <a:lstStyle/>
          <a:p>
            <a:pPr algn="l"/>
            <a:r>
              <a:rPr sz="1200" b="1" i="0">
                <a:solidFill>
                  <a:srgbClr val="7A5000"/>
                </a:solidFill>
                <a:latin typeface="Calibri" panose="020F0502020204030204"/>
              </a:rPr>
              <a:t>Real-Time Layer</a:t>
            </a:r>
            <a:endParaRPr sz="1200" b="1" i="0">
              <a:solidFill>
                <a:srgbClr val="7A5000"/>
              </a:solidFill>
              <a:latin typeface="Calibri" panose="020F0502020204030204"/>
            </a:endParaRPr>
          </a:p>
        </p:txBody>
      </p:sp>
      <p:sp>
        <p:nvSpPr>
          <p:cNvPr id="19" name="Rectangle 18"/>
          <p:cNvSpPr/>
          <p:nvPr/>
        </p:nvSpPr>
        <p:spPr>
          <a:xfrm>
            <a:off x="4297680" y="3566160"/>
            <a:ext cx="12700" cy="502920"/>
          </a:xfrm>
          <a:prstGeom prst="rect">
            <a:avLst/>
          </a:prstGeom>
          <a:solidFill>
            <a:srgbClr val="7A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3493008"/>
            <a:ext cx="7132320" cy="640080"/>
          </a:xfrm>
          <a:prstGeom prst="rect">
            <a:avLst/>
          </a:prstGeom>
          <a:noFill/>
        </p:spPr>
        <p:txBody>
          <a:bodyPr wrap="square">
            <a:spAutoFit/>
          </a:bodyPr>
          <a:lstStyle/>
          <a:p>
            <a:pPr algn="l"/>
            <a:r>
              <a:rPr sz="1100" b="0" i="0">
                <a:solidFill>
                  <a:srgbClr val="333333"/>
                </a:solidFill>
                <a:latin typeface="Calibri" panose="020F0502020204030204"/>
              </a:rPr>
              <a:t>Socket.IO Server | Events: message:send, typing:start/stop, notification:send, channel:join/leave</a:t>
            </a:r>
            <a:endParaRPr sz="1100" b="0" i="0">
              <a:solidFill>
                <a:srgbClr val="333333"/>
              </a:solidFill>
              <a:latin typeface="Calibri" panose="020F0502020204030204"/>
            </a:endParaRPr>
          </a:p>
        </p:txBody>
      </p:sp>
      <p:sp>
        <p:nvSpPr>
          <p:cNvPr id="21" name="Rectangle 20"/>
          <p:cNvSpPr/>
          <p:nvPr/>
        </p:nvSpPr>
        <p:spPr>
          <a:xfrm>
            <a:off x="365760" y="4352544"/>
            <a:ext cx="11430000" cy="868680"/>
          </a:xfrm>
          <a:prstGeom prst="rect">
            <a:avLst/>
          </a:prstGeom>
          <a:solidFill>
            <a:srgbClr val="F0D6F5"/>
          </a:solidFill>
          <a:ln w="10160">
            <a:solidFill>
              <a:srgbClr val="500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398264"/>
            <a:ext cx="3657600" cy="347472"/>
          </a:xfrm>
          <a:prstGeom prst="rect">
            <a:avLst/>
          </a:prstGeom>
          <a:noFill/>
        </p:spPr>
        <p:txBody>
          <a:bodyPr wrap="square">
            <a:spAutoFit/>
          </a:bodyPr>
          <a:lstStyle/>
          <a:p>
            <a:pPr algn="l"/>
            <a:r>
              <a:rPr sz="1200" b="1" i="0">
                <a:solidFill>
                  <a:srgbClr val="50007A"/>
                </a:solidFill>
                <a:latin typeface="Calibri" panose="020F0502020204030204"/>
              </a:rPr>
              <a:t>Data Layer (Database)</a:t>
            </a:r>
            <a:endParaRPr sz="1200" b="1" i="0">
              <a:solidFill>
                <a:srgbClr val="50007A"/>
              </a:solidFill>
              <a:latin typeface="Calibri" panose="020F0502020204030204"/>
            </a:endParaRPr>
          </a:p>
        </p:txBody>
      </p:sp>
      <p:sp>
        <p:nvSpPr>
          <p:cNvPr id="23" name="Rectangle 22"/>
          <p:cNvSpPr/>
          <p:nvPr/>
        </p:nvSpPr>
        <p:spPr>
          <a:xfrm>
            <a:off x="4297680" y="4535424"/>
            <a:ext cx="12700" cy="502920"/>
          </a:xfrm>
          <a:prstGeom prst="rect">
            <a:avLst/>
          </a:prstGeom>
          <a:solidFill>
            <a:srgbClr val="500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462272"/>
            <a:ext cx="7132320" cy="640080"/>
          </a:xfrm>
          <a:prstGeom prst="rect">
            <a:avLst/>
          </a:prstGeom>
          <a:noFill/>
        </p:spPr>
        <p:txBody>
          <a:bodyPr wrap="square">
            <a:spAutoFit/>
          </a:bodyPr>
          <a:lstStyle/>
          <a:p>
            <a:pPr algn="l"/>
            <a:r>
              <a:rPr sz="1100" b="0" i="0">
                <a:solidFill>
                  <a:srgbClr val="333333"/>
                </a:solidFill>
                <a:latin typeface="Calibri" panose="020F0502020204030204"/>
              </a:rPr>
              <a:t>PostgreSQL on Supabase/Neon | 11 Tables | Indexed for performance | Connection pooling via pg</a:t>
            </a:r>
            <a:endParaRPr sz="1100" b="0" i="0">
              <a:solidFill>
                <a:srgbClr val="333333"/>
              </a:solidFill>
              <a:latin typeface="Calibri" panose="020F0502020204030204"/>
            </a:endParaRPr>
          </a:p>
        </p:txBody>
      </p:sp>
      <p:sp>
        <p:nvSpPr>
          <p:cNvPr id="25" name="Rectangle 24"/>
          <p:cNvSpPr/>
          <p:nvPr/>
        </p:nvSpPr>
        <p:spPr>
          <a:xfrm>
            <a:off x="365760" y="5321808"/>
            <a:ext cx="11430000" cy="868680"/>
          </a:xfrm>
          <a:prstGeom prst="rect">
            <a:avLst/>
          </a:prstGeom>
          <a:solidFill>
            <a:srgbClr val="FFE5D6"/>
          </a:solidFill>
          <a:ln w="10160">
            <a:solidFill>
              <a:srgbClr val="7A2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367528"/>
            <a:ext cx="3657600" cy="347472"/>
          </a:xfrm>
          <a:prstGeom prst="rect">
            <a:avLst/>
          </a:prstGeom>
          <a:noFill/>
        </p:spPr>
        <p:txBody>
          <a:bodyPr wrap="square">
            <a:spAutoFit/>
          </a:bodyPr>
          <a:lstStyle/>
          <a:p>
            <a:pPr algn="l"/>
            <a:r>
              <a:rPr sz="1200" b="1" i="0">
                <a:solidFill>
                  <a:srgbClr val="7A2000"/>
                </a:solidFill>
                <a:latin typeface="Calibri" panose="020F0502020204030204"/>
              </a:rPr>
              <a:t>Storage Layer</a:t>
            </a:r>
            <a:endParaRPr sz="1200" b="1" i="0">
              <a:solidFill>
                <a:srgbClr val="7A2000"/>
              </a:solidFill>
              <a:latin typeface="Calibri" panose="020F0502020204030204"/>
            </a:endParaRPr>
          </a:p>
        </p:txBody>
      </p:sp>
      <p:sp>
        <p:nvSpPr>
          <p:cNvPr id="27" name="Rectangle 26"/>
          <p:cNvSpPr/>
          <p:nvPr/>
        </p:nvSpPr>
        <p:spPr>
          <a:xfrm>
            <a:off x="4297680" y="5504688"/>
            <a:ext cx="12700" cy="502920"/>
          </a:xfrm>
          <a:prstGeom prst="rect">
            <a:avLst/>
          </a:prstGeom>
          <a:solidFill>
            <a:srgbClr val="7A2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5431536"/>
            <a:ext cx="7132320" cy="640080"/>
          </a:xfrm>
          <a:prstGeom prst="rect">
            <a:avLst/>
          </a:prstGeom>
          <a:noFill/>
        </p:spPr>
        <p:txBody>
          <a:bodyPr wrap="square">
            <a:spAutoFit/>
          </a:bodyPr>
          <a:lstStyle/>
          <a:p>
            <a:pPr algn="l"/>
            <a:r>
              <a:rPr sz="1100" b="0" i="0">
                <a:solidFill>
                  <a:srgbClr val="333333"/>
                </a:solidFill>
                <a:latin typeface="Calibri" panose="020F0502020204030204"/>
              </a:rPr>
              <a:t>Cloudinary CDN | Stores: chat attachments, assignment submissions, notes files</a:t>
            </a:r>
            <a:endParaRPr sz="1100" b="0" i="0">
              <a:solidFill>
                <a:srgbClr val="333333"/>
              </a:solidFill>
              <a:latin typeface="Calibri" panose="020F0502020204030204"/>
            </a:endParaRPr>
          </a:p>
        </p:txBody>
      </p:sp>
      <p:sp>
        <p:nvSpPr>
          <p:cNvPr id="30" name="Slide Number Placeholder 29"/>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3: System Design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0" y="6492240"/>
            <a:ext cx="640080" cy="274320"/>
          </a:xfrm>
          <a:prstGeom prst="rect">
            <a:avLst/>
          </a:prstGeom>
          <a:noFill/>
        </p:spPr>
        <p:txBody>
          <a:bodyPr wrap="square">
            <a:spAutoFit/>
          </a:bodyPr>
          <a:lstStyle/>
          <a:p>
            <a:pPr algn="r"/>
            <a:r>
              <a:rPr sz="900" b="0" i="0">
                <a:solidFill>
                  <a:srgbClr val="333333"/>
                </a:solidFill>
                <a:latin typeface="Calibri" panose="020F0502020204030204"/>
              </a:rPr>
              <a:t>11</a:t>
            </a:r>
            <a:endParaRPr sz="900" b="0" i="0">
              <a:solidFill>
                <a:srgbClr val="333333"/>
              </a:solidFill>
              <a:latin typeface="Calibri" panose="020F0502020204030204"/>
            </a:endParaRP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Database Design</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17320"/>
            <a:ext cx="5577840" cy="59436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453896"/>
            <a:ext cx="1920240" cy="320040"/>
          </a:xfrm>
          <a:prstGeom prst="rect">
            <a:avLst/>
          </a:prstGeom>
          <a:noFill/>
        </p:spPr>
        <p:txBody>
          <a:bodyPr wrap="square">
            <a:spAutoFit/>
          </a:bodyPr>
          <a:lstStyle/>
          <a:p>
            <a:pPr algn="l"/>
            <a:r>
              <a:rPr sz="1000" b="1" i="0">
                <a:solidFill>
                  <a:srgbClr val="00326E"/>
                </a:solidFill>
                <a:latin typeface="Calibri" panose="020F0502020204030204"/>
              </a:rPr>
              <a:t>faculties</a:t>
            </a:r>
            <a:endParaRPr sz="1000" b="1" i="0">
              <a:solidFill>
                <a:srgbClr val="00326E"/>
              </a:solidFill>
              <a:latin typeface="Calibri" panose="020F0502020204030204"/>
            </a:endParaRPr>
          </a:p>
        </p:txBody>
      </p:sp>
      <p:sp>
        <p:nvSpPr>
          <p:cNvPr id="11" name="TextBox 10"/>
          <p:cNvSpPr txBox="1"/>
          <p:nvPr/>
        </p:nvSpPr>
        <p:spPr>
          <a:xfrm>
            <a:off x="2468880" y="1453896"/>
            <a:ext cx="3383280" cy="502920"/>
          </a:xfrm>
          <a:prstGeom prst="rect">
            <a:avLst/>
          </a:prstGeom>
          <a:noFill/>
        </p:spPr>
        <p:txBody>
          <a:bodyPr wrap="square">
            <a:spAutoFit/>
          </a:bodyPr>
          <a:lstStyle/>
          <a:p>
            <a:pPr algn="l"/>
            <a:r>
              <a:rPr sz="900" b="0" i="0">
                <a:solidFill>
                  <a:srgbClr val="333333"/>
                </a:solidFill>
                <a:latin typeface="Calibri" panose="020F0502020204030204"/>
              </a:rPr>
              <a:t>id, name, color_code</a:t>
            </a:r>
            <a:endParaRPr sz="900" b="0" i="0">
              <a:solidFill>
                <a:srgbClr val="333333"/>
              </a:solidFill>
              <a:latin typeface="Calibri" panose="020F0502020204030204"/>
            </a:endParaRPr>
          </a:p>
        </p:txBody>
      </p:sp>
      <p:sp>
        <p:nvSpPr>
          <p:cNvPr id="12" name="Rectangle 11"/>
          <p:cNvSpPr/>
          <p:nvPr/>
        </p:nvSpPr>
        <p:spPr>
          <a:xfrm>
            <a:off x="365760" y="2084832"/>
            <a:ext cx="5577840" cy="594360"/>
          </a:xfrm>
          <a:prstGeom prst="rect">
            <a:avLst/>
          </a:prstGeom>
          <a:solidFill>
            <a:srgbClr val="FFFFFF"/>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121408"/>
            <a:ext cx="1920240" cy="320040"/>
          </a:xfrm>
          <a:prstGeom prst="rect">
            <a:avLst/>
          </a:prstGeom>
          <a:noFill/>
        </p:spPr>
        <p:txBody>
          <a:bodyPr wrap="square">
            <a:spAutoFit/>
          </a:bodyPr>
          <a:lstStyle/>
          <a:p>
            <a:pPr algn="l"/>
            <a:r>
              <a:rPr sz="1000" b="1" i="0">
                <a:solidFill>
                  <a:srgbClr val="00326E"/>
                </a:solidFill>
                <a:latin typeface="Calibri" panose="020F0502020204030204"/>
              </a:rPr>
              <a:t>programmes</a:t>
            </a:r>
            <a:endParaRPr sz="1000" b="1" i="0">
              <a:solidFill>
                <a:srgbClr val="00326E"/>
              </a:solidFill>
              <a:latin typeface="Calibri" panose="020F0502020204030204"/>
            </a:endParaRPr>
          </a:p>
        </p:txBody>
      </p:sp>
      <p:sp>
        <p:nvSpPr>
          <p:cNvPr id="14" name="TextBox 13"/>
          <p:cNvSpPr txBox="1"/>
          <p:nvPr/>
        </p:nvSpPr>
        <p:spPr>
          <a:xfrm>
            <a:off x="2468880" y="2121408"/>
            <a:ext cx="3383280" cy="502920"/>
          </a:xfrm>
          <a:prstGeom prst="rect">
            <a:avLst/>
          </a:prstGeom>
          <a:noFill/>
        </p:spPr>
        <p:txBody>
          <a:bodyPr wrap="square">
            <a:spAutoFit/>
          </a:bodyPr>
          <a:lstStyle/>
          <a:p>
            <a:pPr algn="l"/>
            <a:r>
              <a:rPr sz="900" b="0" i="0">
                <a:solidFill>
                  <a:srgbClr val="333333"/>
                </a:solidFill>
                <a:latin typeface="Calibri" panose="020F0502020204030204"/>
              </a:rPr>
              <a:t>id, faculty_id(FK), name, code, duration_semesters</a:t>
            </a:r>
            <a:endParaRPr sz="900" b="0" i="0">
              <a:solidFill>
                <a:srgbClr val="333333"/>
              </a:solidFill>
              <a:latin typeface="Calibri" panose="020F0502020204030204"/>
            </a:endParaRPr>
          </a:p>
        </p:txBody>
      </p:sp>
      <p:sp>
        <p:nvSpPr>
          <p:cNvPr id="15" name="Rectangle 14"/>
          <p:cNvSpPr/>
          <p:nvPr/>
        </p:nvSpPr>
        <p:spPr>
          <a:xfrm>
            <a:off x="365760" y="2752344"/>
            <a:ext cx="5577840" cy="59436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788920"/>
            <a:ext cx="1920240" cy="320040"/>
          </a:xfrm>
          <a:prstGeom prst="rect">
            <a:avLst/>
          </a:prstGeom>
          <a:noFill/>
        </p:spPr>
        <p:txBody>
          <a:bodyPr wrap="square">
            <a:spAutoFit/>
          </a:bodyPr>
          <a:lstStyle/>
          <a:p>
            <a:pPr algn="l"/>
            <a:r>
              <a:rPr sz="1000" b="1" i="0">
                <a:solidFill>
                  <a:srgbClr val="00326E"/>
                </a:solidFill>
                <a:latin typeface="Calibri" panose="020F0502020204030204"/>
              </a:rPr>
              <a:t>batches</a:t>
            </a:r>
            <a:endParaRPr sz="1000" b="1" i="0">
              <a:solidFill>
                <a:srgbClr val="00326E"/>
              </a:solidFill>
              <a:latin typeface="Calibri" panose="020F0502020204030204"/>
            </a:endParaRPr>
          </a:p>
        </p:txBody>
      </p:sp>
      <p:sp>
        <p:nvSpPr>
          <p:cNvPr id="17" name="TextBox 16"/>
          <p:cNvSpPr txBox="1"/>
          <p:nvPr/>
        </p:nvSpPr>
        <p:spPr>
          <a:xfrm>
            <a:off x="2468880" y="2788920"/>
            <a:ext cx="3383280" cy="502920"/>
          </a:xfrm>
          <a:prstGeom prst="rect">
            <a:avLst/>
          </a:prstGeom>
          <a:noFill/>
        </p:spPr>
        <p:txBody>
          <a:bodyPr wrap="square">
            <a:spAutoFit/>
          </a:bodyPr>
          <a:lstStyle/>
          <a:p>
            <a:pPr algn="l"/>
            <a:r>
              <a:rPr sz="900" b="0" i="0">
                <a:solidFill>
                  <a:srgbClr val="333333"/>
                </a:solidFill>
                <a:latin typeface="Calibri" panose="020F0502020204030204"/>
              </a:rPr>
              <a:t>id, programme_id(FK), year</a:t>
            </a:r>
            <a:endParaRPr sz="900" b="0" i="0">
              <a:solidFill>
                <a:srgbClr val="333333"/>
              </a:solidFill>
              <a:latin typeface="Calibri" panose="020F0502020204030204"/>
            </a:endParaRPr>
          </a:p>
        </p:txBody>
      </p:sp>
      <p:sp>
        <p:nvSpPr>
          <p:cNvPr id="18" name="Rectangle 17"/>
          <p:cNvSpPr/>
          <p:nvPr/>
        </p:nvSpPr>
        <p:spPr>
          <a:xfrm>
            <a:off x="365760" y="3419856"/>
            <a:ext cx="5577840" cy="594360"/>
          </a:xfrm>
          <a:prstGeom prst="rect">
            <a:avLst/>
          </a:prstGeom>
          <a:solidFill>
            <a:srgbClr val="FFFFFF"/>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456432"/>
            <a:ext cx="1920240" cy="320040"/>
          </a:xfrm>
          <a:prstGeom prst="rect">
            <a:avLst/>
          </a:prstGeom>
          <a:noFill/>
        </p:spPr>
        <p:txBody>
          <a:bodyPr wrap="square">
            <a:spAutoFit/>
          </a:bodyPr>
          <a:lstStyle/>
          <a:p>
            <a:pPr algn="l"/>
            <a:r>
              <a:rPr sz="1000" b="1" i="0">
                <a:solidFill>
                  <a:srgbClr val="00326E"/>
                </a:solidFill>
                <a:latin typeface="Calibri" panose="020F0502020204030204"/>
              </a:rPr>
              <a:t>users</a:t>
            </a:r>
            <a:endParaRPr sz="1000" b="1" i="0">
              <a:solidFill>
                <a:srgbClr val="00326E"/>
              </a:solidFill>
              <a:latin typeface="Calibri" panose="020F0502020204030204"/>
            </a:endParaRPr>
          </a:p>
        </p:txBody>
      </p:sp>
      <p:sp>
        <p:nvSpPr>
          <p:cNvPr id="20" name="TextBox 19"/>
          <p:cNvSpPr txBox="1"/>
          <p:nvPr/>
        </p:nvSpPr>
        <p:spPr>
          <a:xfrm>
            <a:off x="2468880" y="3456432"/>
            <a:ext cx="3383280" cy="502920"/>
          </a:xfrm>
          <a:prstGeom prst="rect">
            <a:avLst/>
          </a:prstGeom>
          <a:noFill/>
        </p:spPr>
        <p:txBody>
          <a:bodyPr wrap="square">
            <a:spAutoFit/>
          </a:bodyPr>
          <a:lstStyle/>
          <a:p>
            <a:pPr algn="l"/>
            <a:r>
              <a:rPr sz="900" b="0" i="0">
                <a:solidFill>
                  <a:srgbClr val="333333"/>
                </a:solidFill>
                <a:latin typeface="Calibri" panose="020F0502020204030204"/>
              </a:rPr>
              <a:t>id, name, email, roll_number, dob, password, role, programme_id(FK), batch_year, current_semester</a:t>
            </a:r>
            <a:endParaRPr sz="900" b="0" i="0">
              <a:solidFill>
                <a:srgbClr val="333333"/>
              </a:solidFill>
              <a:latin typeface="Calibri" panose="020F0502020204030204"/>
            </a:endParaRPr>
          </a:p>
        </p:txBody>
      </p:sp>
      <p:sp>
        <p:nvSpPr>
          <p:cNvPr id="21" name="Rectangle 20"/>
          <p:cNvSpPr/>
          <p:nvPr/>
        </p:nvSpPr>
        <p:spPr>
          <a:xfrm>
            <a:off x="365760" y="4087368"/>
            <a:ext cx="5577840" cy="59436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23944"/>
            <a:ext cx="1920240" cy="320040"/>
          </a:xfrm>
          <a:prstGeom prst="rect">
            <a:avLst/>
          </a:prstGeom>
          <a:noFill/>
        </p:spPr>
        <p:txBody>
          <a:bodyPr wrap="square">
            <a:spAutoFit/>
          </a:bodyPr>
          <a:lstStyle/>
          <a:p>
            <a:pPr algn="l"/>
            <a:r>
              <a:rPr sz="1000" b="1" i="0">
                <a:solidFill>
                  <a:srgbClr val="00326E"/>
                </a:solidFill>
                <a:latin typeface="Calibri" panose="020F0502020204030204"/>
              </a:rPr>
              <a:t>channels (subjects)</a:t>
            </a:r>
            <a:endParaRPr sz="1000" b="1" i="0">
              <a:solidFill>
                <a:srgbClr val="00326E"/>
              </a:solidFill>
              <a:latin typeface="Calibri" panose="020F0502020204030204"/>
            </a:endParaRPr>
          </a:p>
        </p:txBody>
      </p:sp>
      <p:sp>
        <p:nvSpPr>
          <p:cNvPr id="23" name="TextBox 22"/>
          <p:cNvSpPr txBox="1"/>
          <p:nvPr/>
        </p:nvSpPr>
        <p:spPr>
          <a:xfrm>
            <a:off x="2468880" y="4123944"/>
            <a:ext cx="3383280" cy="502920"/>
          </a:xfrm>
          <a:prstGeom prst="rect">
            <a:avLst/>
          </a:prstGeom>
          <a:noFill/>
        </p:spPr>
        <p:txBody>
          <a:bodyPr wrap="square">
            <a:spAutoFit/>
          </a:bodyPr>
          <a:lstStyle/>
          <a:p>
            <a:pPr algn="l"/>
            <a:r>
              <a:rPr sz="900" b="0" i="0">
                <a:solidFill>
                  <a:srgbClr val="333333"/>
                </a:solidFill>
                <a:latin typeface="Calibri" panose="020F0502020204030204"/>
              </a:rPr>
              <a:t>id, batch_id(FK), semester_number, subject_name, teacher_id(FK)</a:t>
            </a:r>
            <a:endParaRPr sz="900" b="0" i="0">
              <a:solidFill>
                <a:srgbClr val="333333"/>
              </a:solidFill>
              <a:latin typeface="Calibri" panose="020F0502020204030204"/>
            </a:endParaRPr>
          </a:p>
        </p:txBody>
      </p:sp>
      <p:sp>
        <p:nvSpPr>
          <p:cNvPr id="24" name="Rectangle 23"/>
          <p:cNvSpPr/>
          <p:nvPr/>
        </p:nvSpPr>
        <p:spPr>
          <a:xfrm>
            <a:off x="365760" y="4754880"/>
            <a:ext cx="5577840" cy="594360"/>
          </a:xfrm>
          <a:prstGeom prst="rect">
            <a:avLst/>
          </a:prstGeom>
          <a:solidFill>
            <a:srgbClr val="FFFFFF"/>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791456"/>
            <a:ext cx="1920240" cy="320040"/>
          </a:xfrm>
          <a:prstGeom prst="rect">
            <a:avLst/>
          </a:prstGeom>
          <a:noFill/>
        </p:spPr>
        <p:txBody>
          <a:bodyPr wrap="square">
            <a:spAutoFit/>
          </a:bodyPr>
          <a:lstStyle/>
          <a:p>
            <a:pPr algn="l"/>
            <a:r>
              <a:rPr sz="1000" b="1" i="0">
                <a:solidFill>
                  <a:srgbClr val="00326E"/>
                </a:solidFill>
                <a:latin typeface="Calibri" panose="020F0502020204030204"/>
              </a:rPr>
              <a:t>enrollments</a:t>
            </a:r>
            <a:endParaRPr sz="1000" b="1" i="0">
              <a:solidFill>
                <a:srgbClr val="00326E"/>
              </a:solidFill>
              <a:latin typeface="Calibri" panose="020F0502020204030204"/>
            </a:endParaRPr>
          </a:p>
        </p:txBody>
      </p:sp>
      <p:sp>
        <p:nvSpPr>
          <p:cNvPr id="26" name="TextBox 25"/>
          <p:cNvSpPr txBox="1"/>
          <p:nvPr/>
        </p:nvSpPr>
        <p:spPr>
          <a:xfrm>
            <a:off x="2468880" y="4791456"/>
            <a:ext cx="3383280" cy="502920"/>
          </a:xfrm>
          <a:prstGeom prst="rect">
            <a:avLst/>
          </a:prstGeom>
          <a:noFill/>
        </p:spPr>
        <p:txBody>
          <a:bodyPr wrap="square">
            <a:spAutoFit/>
          </a:bodyPr>
          <a:lstStyle/>
          <a:p>
            <a:pPr algn="l"/>
            <a:r>
              <a:rPr sz="900" b="0" i="0">
                <a:solidFill>
                  <a:srgbClr val="333333"/>
                </a:solidFill>
                <a:latin typeface="Calibri" panose="020F0502020204030204"/>
              </a:rPr>
              <a:t>id, user_id(FK), channel_id(FK) — UNIQUE pair</a:t>
            </a:r>
            <a:endParaRPr sz="900" b="0" i="0">
              <a:solidFill>
                <a:srgbClr val="333333"/>
              </a:solidFill>
              <a:latin typeface="Calibri" panose="020F0502020204030204"/>
            </a:endParaRPr>
          </a:p>
        </p:txBody>
      </p:sp>
      <p:sp>
        <p:nvSpPr>
          <p:cNvPr id="27" name="Rectangle 26"/>
          <p:cNvSpPr/>
          <p:nvPr/>
        </p:nvSpPr>
        <p:spPr>
          <a:xfrm>
            <a:off x="365760" y="5422392"/>
            <a:ext cx="5577840" cy="59436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458968"/>
            <a:ext cx="1920240" cy="320040"/>
          </a:xfrm>
          <a:prstGeom prst="rect">
            <a:avLst/>
          </a:prstGeom>
          <a:noFill/>
        </p:spPr>
        <p:txBody>
          <a:bodyPr wrap="square">
            <a:spAutoFit/>
          </a:bodyPr>
          <a:lstStyle/>
          <a:p>
            <a:pPr algn="l"/>
            <a:r>
              <a:rPr sz="1000" b="1" i="0">
                <a:solidFill>
                  <a:srgbClr val="00326E"/>
                </a:solidFill>
                <a:latin typeface="Calibri" panose="020F0502020204030204"/>
              </a:rPr>
              <a:t>messages</a:t>
            </a:r>
            <a:endParaRPr sz="1000" b="1" i="0">
              <a:solidFill>
                <a:srgbClr val="00326E"/>
              </a:solidFill>
              <a:latin typeface="Calibri" panose="020F0502020204030204"/>
            </a:endParaRPr>
          </a:p>
        </p:txBody>
      </p:sp>
      <p:sp>
        <p:nvSpPr>
          <p:cNvPr id="29" name="TextBox 28"/>
          <p:cNvSpPr txBox="1"/>
          <p:nvPr/>
        </p:nvSpPr>
        <p:spPr>
          <a:xfrm>
            <a:off x="2468880" y="5458968"/>
            <a:ext cx="3383280" cy="502920"/>
          </a:xfrm>
          <a:prstGeom prst="rect">
            <a:avLst/>
          </a:prstGeom>
          <a:noFill/>
        </p:spPr>
        <p:txBody>
          <a:bodyPr wrap="square">
            <a:spAutoFit/>
          </a:bodyPr>
          <a:lstStyle/>
          <a:p>
            <a:pPr algn="l"/>
            <a:r>
              <a:rPr sz="900" b="0" i="0">
                <a:solidFill>
                  <a:srgbClr val="333333"/>
                </a:solidFill>
                <a:latin typeface="Calibri" panose="020F0502020204030204"/>
              </a:rPr>
              <a:t>id, channel_id(FK), sender_id(FK), content, file_url, is_pinned</a:t>
            </a:r>
            <a:endParaRPr sz="900" b="0" i="0">
              <a:solidFill>
                <a:srgbClr val="333333"/>
              </a:solidFill>
              <a:latin typeface="Calibri" panose="020F0502020204030204"/>
            </a:endParaRPr>
          </a:p>
        </p:txBody>
      </p:sp>
      <p:sp>
        <p:nvSpPr>
          <p:cNvPr id="30" name="Rectangle 29"/>
          <p:cNvSpPr/>
          <p:nvPr/>
        </p:nvSpPr>
        <p:spPr>
          <a:xfrm>
            <a:off x="6263640" y="1417320"/>
            <a:ext cx="5577840" cy="594360"/>
          </a:xfrm>
          <a:prstGeom prst="rect">
            <a:avLst/>
          </a:prstGeom>
          <a:solidFill>
            <a:srgbClr val="FFFFFF"/>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1453896"/>
            <a:ext cx="1920240" cy="320040"/>
          </a:xfrm>
          <a:prstGeom prst="rect">
            <a:avLst/>
          </a:prstGeom>
          <a:noFill/>
        </p:spPr>
        <p:txBody>
          <a:bodyPr wrap="square">
            <a:spAutoFit/>
          </a:bodyPr>
          <a:lstStyle/>
          <a:p>
            <a:pPr algn="l"/>
            <a:r>
              <a:rPr sz="1000" b="1" i="0">
                <a:solidFill>
                  <a:srgbClr val="00326E"/>
                </a:solidFill>
                <a:latin typeface="Calibri" panose="020F0502020204030204"/>
              </a:rPr>
              <a:t>files</a:t>
            </a:r>
            <a:endParaRPr sz="1000" b="1" i="0">
              <a:solidFill>
                <a:srgbClr val="00326E"/>
              </a:solidFill>
              <a:latin typeface="Calibri" panose="020F0502020204030204"/>
            </a:endParaRPr>
          </a:p>
        </p:txBody>
      </p:sp>
      <p:sp>
        <p:nvSpPr>
          <p:cNvPr id="32" name="TextBox 31"/>
          <p:cNvSpPr txBox="1"/>
          <p:nvPr/>
        </p:nvSpPr>
        <p:spPr>
          <a:xfrm>
            <a:off x="8366760" y="1453896"/>
            <a:ext cx="3383280" cy="502920"/>
          </a:xfrm>
          <a:prstGeom prst="rect">
            <a:avLst/>
          </a:prstGeom>
          <a:noFill/>
        </p:spPr>
        <p:txBody>
          <a:bodyPr wrap="square">
            <a:spAutoFit/>
          </a:bodyPr>
          <a:lstStyle/>
          <a:p>
            <a:pPr algn="l"/>
            <a:r>
              <a:rPr sz="900" b="0" i="0">
                <a:solidFill>
                  <a:srgbClr val="333333"/>
                </a:solidFill>
                <a:latin typeface="Calibri" panose="020F0502020204030204"/>
              </a:rPr>
              <a:t>id, channel_id(FK), uploaded_by(FK), file_name, file_url, file_type, file_size</a:t>
            </a:r>
            <a:endParaRPr sz="900" b="0" i="0">
              <a:solidFill>
                <a:srgbClr val="333333"/>
              </a:solidFill>
              <a:latin typeface="Calibri" panose="020F0502020204030204"/>
            </a:endParaRPr>
          </a:p>
        </p:txBody>
      </p:sp>
      <p:sp>
        <p:nvSpPr>
          <p:cNvPr id="33" name="Rectangle 32"/>
          <p:cNvSpPr/>
          <p:nvPr/>
        </p:nvSpPr>
        <p:spPr>
          <a:xfrm>
            <a:off x="6263640" y="2084832"/>
            <a:ext cx="5577840" cy="59436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2121408"/>
            <a:ext cx="1920240" cy="320040"/>
          </a:xfrm>
          <a:prstGeom prst="rect">
            <a:avLst/>
          </a:prstGeom>
          <a:noFill/>
        </p:spPr>
        <p:txBody>
          <a:bodyPr wrap="square">
            <a:spAutoFit/>
          </a:bodyPr>
          <a:lstStyle/>
          <a:p>
            <a:pPr algn="l"/>
            <a:r>
              <a:rPr sz="1000" b="1" i="0">
                <a:solidFill>
                  <a:srgbClr val="00326E"/>
                </a:solidFill>
                <a:latin typeface="Calibri" panose="020F0502020204030204"/>
              </a:rPr>
              <a:t>notes</a:t>
            </a:r>
            <a:endParaRPr sz="1000" b="1" i="0">
              <a:solidFill>
                <a:srgbClr val="00326E"/>
              </a:solidFill>
              <a:latin typeface="Calibri" panose="020F0502020204030204"/>
            </a:endParaRPr>
          </a:p>
        </p:txBody>
      </p:sp>
      <p:sp>
        <p:nvSpPr>
          <p:cNvPr id="35" name="TextBox 34"/>
          <p:cNvSpPr txBox="1"/>
          <p:nvPr/>
        </p:nvSpPr>
        <p:spPr>
          <a:xfrm>
            <a:off x="8366760" y="2121408"/>
            <a:ext cx="3383280" cy="502920"/>
          </a:xfrm>
          <a:prstGeom prst="rect">
            <a:avLst/>
          </a:prstGeom>
          <a:noFill/>
        </p:spPr>
        <p:txBody>
          <a:bodyPr wrap="square">
            <a:spAutoFit/>
          </a:bodyPr>
          <a:lstStyle/>
          <a:p>
            <a:pPr algn="l"/>
            <a:r>
              <a:rPr sz="900" b="0" i="0">
                <a:solidFill>
                  <a:srgbClr val="333333"/>
                </a:solidFill>
                <a:latin typeface="Calibri" panose="020F0502020204030204"/>
              </a:rPr>
              <a:t>id, channel_id(FK), created_by(FK), title, content</a:t>
            </a:r>
            <a:endParaRPr sz="900" b="0" i="0">
              <a:solidFill>
                <a:srgbClr val="333333"/>
              </a:solidFill>
              <a:latin typeface="Calibri" panose="020F0502020204030204"/>
            </a:endParaRPr>
          </a:p>
        </p:txBody>
      </p:sp>
      <p:sp>
        <p:nvSpPr>
          <p:cNvPr id="36" name="Rectangle 35"/>
          <p:cNvSpPr/>
          <p:nvPr/>
        </p:nvSpPr>
        <p:spPr>
          <a:xfrm>
            <a:off x="6263640" y="2752344"/>
            <a:ext cx="5577840" cy="594360"/>
          </a:xfrm>
          <a:prstGeom prst="rect">
            <a:avLst/>
          </a:prstGeom>
          <a:solidFill>
            <a:srgbClr val="FFFFFF"/>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788920"/>
            <a:ext cx="1920240" cy="320040"/>
          </a:xfrm>
          <a:prstGeom prst="rect">
            <a:avLst/>
          </a:prstGeom>
          <a:noFill/>
        </p:spPr>
        <p:txBody>
          <a:bodyPr wrap="square">
            <a:spAutoFit/>
          </a:bodyPr>
          <a:lstStyle/>
          <a:p>
            <a:pPr algn="l"/>
            <a:r>
              <a:rPr sz="1000" b="1" i="0">
                <a:solidFill>
                  <a:srgbClr val="00326E"/>
                </a:solidFill>
                <a:latin typeface="Calibri" panose="020F0502020204030204"/>
              </a:rPr>
              <a:t>assignments</a:t>
            </a:r>
            <a:endParaRPr sz="1000" b="1" i="0">
              <a:solidFill>
                <a:srgbClr val="00326E"/>
              </a:solidFill>
              <a:latin typeface="Calibri" panose="020F0502020204030204"/>
            </a:endParaRPr>
          </a:p>
        </p:txBody>
      </p:sp>
      <p:sp>
        <p:nvSpPr>
          <p:cNvPr id="38" name="TextBox 37"/>
          <p:cNvSpPr txBox="1"/>
          <p:nvPr/>
        </p:nvSpPr>
        <p:spPr>
          <a:xfrm>
            <a:off x="8366760" y="2788920"/>
            <a:ext cx="3383280" cy="502920"/>
          </a:xfrm>
          <a:prstGeom prst="rect">
            <a:avLst/>
          </a:prstGeom>
          <a:noFill/>
        </p:spPr>
        <p:txBody>
          <a:bodyPr wrap="square">
            <a:spAutoFit/>
          </a:bodyPr>
          <a:lstStyle/>
          <a:p>
            <a:pPr algn="l"/>
            <a:r>
              <a:rPr sz="900" b="0" i="0">
                <a:solidFill>
                  <a:srgbClr val="333333"/>
                </a:solidFill>
                <a:latin typeface="Calibri" panose="020F0502020204030204"/>
              </a:rPr>
              <a:t>id, channel_id(FK), created_by(FK), title, due_date, max_marks</a:t>
            </a:r>
            <a:endParaRPr sz="900" b="0" i="0">
              <a:solidFill>
                <a:srgbClr val="333333"/>
              </a:solidFill>
              <a:latin typeface="Calibri" panose="020F0502020204030204"/>
            </a:endParaRPr>
          </a:p>
        </p:txBody>
      </p:sp>
      <p:sp>
        <p:nvSpPr>
          <p:cNvPr id="39" name="Rectangle 38"/>
          <p:cNvSpPr/>
          <p:nvPr/>
        </p:nvSpPr>
        <p:spPr>
          <a:xfrm>
            <a:off x="6263640" y="3419856"/>
            <a:ext cx="5577840" cy="59436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3456432"/>
            <a:ext cx="1920240" cy="320040"/>
          </a:xfrm>
          <a:prstGeom prst="rect">
            <a:avLst/>
          </a:prstGeom>
          <a:noFill/>
        </p:spPr>
        <p:txBody>
          <a:bodyPr wrap="square">
            <a:spAutoFit/>
          </a:bodyPr>
          <a:lstStyle/>
          <a:p>
            <a:pPr algn="l"/>
            <a:r>
              <a:rPr sz="1000" b="1" i="0">
                <a:solidFill>
                  <a:srgbClr val="00326E"/>
                </a:solidFill>
                <a:latin typeface="Calibri" panose="020F0502020204030204"/>
              </a:rPr>
              <a:t>assignment_submissions</a:t>
            </a:r>
            <a:endParaRPr sz="1000" b="1" i="0">
              <a:solidFill>
                <a:srgbClr val="00326E"/>
              </a:solidFill>
              <a:latin typeface="Calibri" panose="020F0502020204030204"/>
            </a:endParaRPr>
          </a:p>
        </p:txBody>
      </p:sp>
      <p:sp>
        <p:nvSpPr>
          <p:cNvPr id="41" name="TextBox 40"/>
          <p:cNvSpPr txBox="1"/>
          <p:nvPr/>
        </p:nvSpPr>
        <p:spPr>
          <a:xfrm>
            <a:off x="8366760" y="3456432"/>
            <a:ext cx="3383280" cy="502920"/>
          </a:xfrm>
          <a:prstGeom prst="rect">
            <a:avLst/>
          </a:prstGeom>
          <a:noFill/>
        </p:spPr>
        <p:txBody>
          <a:bodyPr wrap="square">
            <a:spAutoFit/>
          </a:bodyPr>
          <a:lstStyle/>
          <a:p>
            <a:pPr algn="l"/>
            <a:r>
              <a:rPr sz="900" b="0" i="0">
                <a:solidFill>
                  <a:srgbClr val="333333"/>
                </a:solidFill>
                <a:latin typeface="Calibri" panose="020F0502020204030204"/>
              </a:rPr>
              <a:t>id, assignment_id(FK), student_id(FK), file_url, status, marks, feedback</a:t>
            </a:r>
            <a:endParaRPr sz="900" b="0" i="0">
              <a:solidFill>
                <a:srgbClr val="333333"/>
              </a:solidFill>
              <a:latin typeface="Calibri" panose="020F0502020204030204"/>
            </a:endParaRPr>
          </a:p>
        </p:txBody>
      </p:sp>
      <p:sp>
        <p:nvSpPr>
          <p:cNvPr id="42" name="Rectangle 41"/>
          <p:cNvSpPr/>
          <p:nvPr/>
        </p:nvSpPr>
        <p:spPr>
          <a:xfrm>
            <a:off x="6263640" y="4087368"/>
            <a:ext cx="5577840" cy="594360"/>
          </a:xfrm>
          <a:prstGeom prst="rect">
            <a:avLst/>
          </a:prstGeom>
          <a:solidFill>
            <a:srgbClr val="FFFFFF"/>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4123944"/>
            <a:ext cx="1920240" cy="320040"/>
          </a:xfrm>
          <a:prstGeom prst="rect">
            <a:avLst/>
          </a:prstGeom>
          <a:noFill/>
        </p:spPr>
        <p:txBody>
          <a:bodyPr wrap="square">
            <a:spAutoFit/>
          </a:bodyPr>
          <a:lstStyle/>
          <a:p>
            <a:pPr algn="l"/>
            <a:r>
              <a:rPr sz="1000" b="1" i="0">
                <a:solidFill>
                  <a:srgbClr val="00326E"/>
                </a:solidFill>
                <a:latin typeface="Calibri" panose="020F0502020204030204"/>
              </a:rPr>
              <a:t>announcements</a:t>
            </a:r>
            <a:endParaRPr sz="1000" b="1" i="0">
              <a:solidFill>
                <a:srgbClr val="00326E"/>
              </a:solidFill>
              <a:latin typeface="Calibri" panose="020F0502020204030204"/>
            </a:endParaRPr>
          </a:p>
        </p:txBody>
      </p:sp>
      <p:sp>
        <p:nvSpPr>
          <p:cNvPr id="44" name="TextBox 43"/>
          <p:cNvSpPr txBox="1"/>
          <p:nvPr/>
        </p:nvSpPr>
        <p:spPr>
          <a:xfrm>
            <a:off x="8366760" y="4123944"/>
            <a:ext cx="3383280" cy="502920"/>
          </a:xfrm>
          <a:prstGeom prst="rect">
            <a:avLst/>
          </a:prstGeom>
          <a:noFill/>
        </p:spPr>
        <p:txBody>
          <a:bodyPr wrap="square">
            <a:spAutoFit/>
          </a:bodyPr>
          <a:lstStyle/>
          <a:p>
            <a:pPr algn="l"/>
            <a:r>
              <a:rPr sz="900" b="0" i="0">
                <a:solidFill>
                  <a:srgbClr val="333333"/>
                </a:solidFill>
                <a:latin typeface="Calibri" panose="020F0502020204030204"/>
              </a:rPr>
              <a:t>id, channel_id(FK), user_id(FK), title, content, is_important</a:t>
            </a:r>
            <a:endParaRPr sz="900" b="0" i="0">
              <a:solidFill>
                <a:srgbClr val="333333"/>
              </a:solidFill>
              <a:latin typeface="Calibri" panose="020F0502020204030204"/>
            </a:endParaRPr>
          </a:p>
        </p:txBody>
      </p:sp>
      <p:sp>
        <p:nvSpPr>
          <p:cNvPr id="45" name="Rectangle 44"/>
          <p:cNvSpPr/>
          <p:nvPr/>
        </p:nvSpPr>
        <p:spPr>
          <a:xfrm>
            <a:off x="6263640" y="4754880"/>
            <a:ext cx="5577840" cy="594360"/>
          </a:xfrm>
          <a:prstGeom prst="rect">
            <a:avLst/>
          </a:prstGeom>
          <a:solidFill>
            <a:srgbClr val="F2F5F9"/>
          </a:solidFill>
          <a:ln w="635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4791456"/>
            <a:ext cx="1920240" cy="320040"/>
          </a:xfrm>
          <a:prstGeom prst="rect">
            <a:avLst/>
          </a:prstGeom>
          <a:noFill/>
        </p:spPr>
        <p:txBody>
          <a:bodyPr wrap="square">
            <a:spAutoFit/>
          </a:bodyPr>
          <a:lstStyle/>
          <a:p>
            <a:pPr algn="l"/>
            <a:r>
              <a:rPr sz="1000" b="1" i="0">
                <a:solidFill>
                  <a:srgbClr val="00326E"/>
                </a:solidFill>
                <a:latin typeface="Calibri" panose="020F0502020204030204"/>
              </a:rPr>
              <a:t>notifications</a:t>
            </a:r>
            <a:endParaRPr sz="1000" b="1" i="0">
              <a:solidFill>
                <a:srgbClr val="00326E"/>
              </a:solidFill>
              <a:latin typeface="Calibri" panose="020F0502020204030204"/>
            </a:endParaRPr>
          </a:p>
        </p:txBody>
      </p:sp>
      <p:sp>
        <p:nvSpPr>
          <p:cNvPr id="47" name="TextBox 46"/>
          <p:cNvSpPr txBox="1"/>
          <p:nvPr/>
        </p:nvSpPr>
        <p:spPr>
          <a:xfrm>
            <a:off x="8366760" y="4791456"/>
            <a:ext cx="3383280" cy="502920"/>
          </a:xfrm>
          <a:prstGeom prst="rect">
            <a:avLst/>
          </a:prstGeom>
          <a:noFill/>
        </p:spPr>
        <p:txBody>
          <a:bodyPr wrap="square">
            <a:spAutoFit/>
          </a:bodyPr>
          <a:lstStyle/>
          <a:p>
            <a:pPr algn="l"/>
            <a:r>
              <a:rPr sz="900" b="0" i="0">
                <a:solidFill>
                  <a:srgbClr val="333333"/>
                </a:solidFill>
                <a:latin typeface="Calibri" panose="020F0502020204030204"/>
              </a:rPr>
              <a:t>id, user_id(FK), type, title, message, is_read, ref_id</a:t>
            </a:r>
            <a:endParaRPr sz="900" b="0" i="0">
              <a:solidFill>
                <a:srgbClr val="333333"/>
              </a:solidFill>
              <a:latin typeface="Calibri" panose="020F0502020204030204"/>
            </a:endParaRPr>
          </a:p>
        </p:txBody>
      </p:sp>
      <p:sp>
        <p:nvSpPr>
          <p:cNvPr id="49" name="Slide Number Placeholder 48"/>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3: System Design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0" y="6492240"/>
            <a:ext cx="640080" cy="274320"/>
          </a:xfrm>
          <a:prstGeom prst="rect">
            <a:avLst/>
          </a:prstGeom>
          <a:noFill/>
        </p:spPr>
        <p:txBody>
          <a:bodyPr wrap="square">
            <a:spAutoFit/>
          </a:bodyPr>
          <a:lstStyle/>
          <a:p>
            <a:pPr algn="r"/>
            <a:r>
              <a:rPr sz="900" b="0" i="0">
                <a:solidFill>
                  <a:srgbClr val="333333"/>
                </a:solidFill>
                <a:latin typeface="Calibri" panose="020F0502020204030204"/>
              </a:rPr>
              <a:t>12</a:t>
            </a:r>
            <a:endParaRPr sz="900" b="0" i="0">
              <a:solidFill>
                <a:srgbClr val="333333"/>
              </a:solidFill>
              <a:latin typeface="Calibri" panose="020F0502020204030204"/>
            </a:endParaRP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System Workflow / Process Flow</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17320"/>
            <a:ext cx="548640" cy="62941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72768"/>
            <a:ext cx="548640" cy="320040"/>
          </a:xfrm>
          <a:prstGeom prst="rect">
            <a:avLst/>
          </a:prstGeom>
          <a:noFill/>
        </p:spPr>
        <p:txBody>
          <a:bodyPr wrap="square">
            <a:spAutoFit/>
          </a:bodyPr>
          <a:lstStyle/>
          <a:p>
            <a:pPr algn="ctr"/>
            <a:r>
              <a:rPr sz="1400" b="1" i="0">
                <a:solidFill>
                  <a:srgbClr val="FFFFFF"/>
                </a:solidFill>
                <a:latin typeface="Calibri" panose="020F0502020204030204"/>
              </a:rPr>
              <a:t>1</a:t>
            </a:r>
            <a:endParaRPr sz="1400" b="1" i="0">
              <a:solidFill>
                <a:srgbClr val="FFFFFF"/>
              </a:solidFill>
              <a:latin typeface="Calibri" panose="020F0502020204030204"/>
            </a:endParaRPr>
          </a:p>
        </p:txBody>
      </p:sp>
      <p:sp>
        <p:nvSpPr>
          <p:cNvPr id="11" name="TextBox 10"/>
          <p:cNvSpPr txBox="1"/>
          <p:nvPr/>
        </p:nvSpPr>
        <p:spPr>
          <a:xfrm>
            <a:off x="1005840" y="1453896"/>
            <a:ext cx="2560320" cy="320040"/>
          </a:xfrm>
          <a:prstGeom prst="rect">
            <a:avLst/>
          </a:prstGeom>
          <a:noFill/>
        </p:spPr>
        <p:txBody>
          <a:bodyPr wrap="square">
            <a:spAutoFit/>
          </a:bodyPr>
          <a:lstStyle/>
          <a:p>
            <a:pPr algn="l"/>
            <a:r>
              <a:rPr sz="1200" b="1" i="0">
                <a:solidFill>
                  <a:srgbClr val="00326E"/>
                </a:solidFill>
                <a:latin typeface="Calibri" panose="020F0502020204030204"/>
              </a:rPr>
              <a:t>Student Registration</a:t>
            </a:r>
            <a:endParaRPr sz="1200" b="1" i="0">
              <a:solidFill>
                <a:srgbClr val="00326E"/>
              </a:solidFill>
              <a:latin typeface="Calibri" panose="020F0502020204030204"/>
            </a:endParaRPr>
          </a:p>
        </p:txBody>
      </p:sp>
      <p:sp>
        <p:nvSpPr>
          <p:cNvPr id="12" name="TextBox 11"/>
          <p:cNvSpPr txBox="1"/>
          <p:nvPr/>
        </p:nvSpPr>
        <p:spPr>
          <a:xfrm>
            <a:off x="3657600" y="1453896"/>
            <a:ext cx="8229600" cy="548640"/>
          </a:xfrm>
          <a:prstGeom prst="rect">
            <a:avLst/>
          </a:prstGeom>
          <a:noFill/>
        </p:spPr>
        <p:txBody>
          <a:bodyPr wrap="square">
            <a:spAutoFit/>
          </a:bodyPr>
          <a:lstStyle/>
          <a:p>
            <a:pPr algn="l"/>
            <a:r>
              <a:rPr sz="1150" b="0" i="0">
                <a:solidFill>
                  <a:srgbClr val="333333"/>
                </a:solidFill>
                <a:latin typeface="Calibri" panose="020F0502020204030204"/>
              </a:rPr>
              <a:t>Student signs up using roll number, DOB (password), and selects programme &amp; batch.</a:t>
            </a:r>
            <a:endParaRPr sz="1150" b="0" i="0">
              <a:solidFill>
                <a:srgbClr val="333333"/>
              </a:solidFill>
              <a:latin typeface="Calibri" panose="020F0502020204030204"/>
            </a:endParaRPr>
          </a:p>
        </p:txBody>
      </p:sp>
      <p:sp>
        <p:nvSpPr>
          <p:cNvPr id="13" name="Rectangle 12"/>
          <p:cNvSpPr/>
          <p:nvPr/>
        </p:nvSpPr>
        <p:spPr>
          <a:xfrm>
            <a:off x="594360" y="2059432"/>
            <a:ext cx="25400" cy="508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084832"/>
            <a:ext cx="548640" cy="62941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240280"/>
            <a:ext cx="548640" cy="320040"/>
          </a:xfrm>
          <a:prstGeom prst="rect">
            <a:avLst/>
          </a:prstGeom>
          <a:noFill/>
        </p:spPr>
        <p:txBody>
          <a:bodyPr wrap="square">
            <a:spAutoFit/>
          </a:bodyPr>
          <a:lstStyle/>
          <a:p>
            <a:pPr algn="ctr"/>
            <a:r>
              <a:rPr sz="1400" b="1" i="0">
                <a:solidFill>
                  <a:srgbClr val="FFFFFF"/>
                </a:solidFill>
                <a:latin typeface="Calibri" panose="020F0502020204030204"/>
              </a:rPr>
              <a:t>2</a:t>
            </a:r>
            <a:endParaRPr sz="1400" b="1" i="0">
              <a:solidFill>
                <a:srgbClr val="FFFFFF"/>
              </a:solidFill>
              <a:latin typeface="Calibri" panose="020F0502020204030204"/>
            </a:endParaRPr>
          </a:p>
        </p:txBody>
      </p:sp>
      <p:sp>
        <p:nvSpPr>
          <p:cNvPr id="16" name="TextBox 15"/>
          <p:cNvSpPr txBox="1"/>
          <p:nvPr/>
        </p:nvSpPr>
        <p:spPr>
          <a:xfrm>
            <a:off x="1005840" y="2121408"/>
            <a:ext cx="2560320" cy="320040"/>
          </a:xfrm>
          <a:prstGeom prst="rect">
            <a:avLst/>
          </a:prstGeom>
          <a:noFill/>
        </p:spPr>
        <p:txBody>
          <a:bodyPr wrap="square">
            <a:spAutoFit/>
          </a:bodyPr>
          <a:lstStyle/>
          <a:p>
            <a:pPr algn="l"/>
            <a:r>
              <a:rPr sz="1200" b="1" i="0">
                <a:solidFill>
                  <a:srgbClr val="00326E"/>
                </a:solidFill>
                <a:latin typeface="Calibri" panose="020F0502020204030204"/>
              </a:rPr>
              <a:t>Auto Enrolment</a:t>
            </a:r>
            <a:endParaRPr sz="1200" b="1" i="0">
              <a:solidFill>
                <a:srgbClr val="00326E"/>
              </a:solidFill>
              <a:latin typeface="Calibri" panose="020F0502020204030204"/>
            </a:endParaRPr>
          </a:p>
        </p:txBody>
      </p:sp>
      <p:sp>
        <p:nvSpPr>
          <p:cNvPr id="17" name="TextBox 16"/>
          <p:cNvSpPr txBox="1"/>
          <p:nvPr/>
        </p:nvSpPr>
        <p:spPr>
          <a:xfrm>
            <a:off x="3657600" y="2121408"/>
            <a:ext cx="8229600" cy="548640"/>
          </a:xfrm>
          <a:prstGeom prst="rect">
            <a:avLst/>
          </a:prstGeom>
          <a:noFill/>
        </p:spPr>
        <p:txBody>
          <a:bodyPr wrap="square">
            <a:spAutoFit/>
          </a:bodyPr>
          <a:lstStyle/>
          <a:p>
            <a:pPr algn="l"/>
            <a:r>
              <a:rPr sz="1150" b="0" i="0">
                <a:solidFill>
                  <a:srgbClr val="333333"/>
                </a:solidFill>
                <a:latin typeface="Calibri" panose="020F0502020204030204"/>
              </a:rPr>
              <a:t>Backend auto-enrols the student in all subject channels for their programme and current semester.</a:t>
            </a:r>
            <a:endParaRPr sz="1150" b="0" i="0">
              <a:solidFill>
                <a:srgbClr val="333333"/>
              </a:solidFill>
              <a:latin typeface="Calibri" panose="020F0502020204030204"/>
            </a:endParaRPr>
          </a:p>
        </p:txBody>
      </p:sp>
      <p:sp>
        <p:nvSpPr>
          <p:cNvPr id="18" name="Rectangle 17"/>
          <p:cNvSpPr/>
          <p:nvPr/>
        </p:nvSpPr>
        <p:spPr>
          <a:xfrm>
            <a:off x="594360" y="2726944"/>
            <a:ext cx="25400" cy="508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752344"/>
            <a:ext cx="548640" cy="62941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907792"/>
            <a:ext cx="548640" cy="320040"/>
          </a:xfrm>
          <a:prstGeom prst="rect">
            <a:avLst/>
          </a:prstGeom>
          <a:noFill/>
        </p:spPr>
        <p:txBody>
          <a:bodyPr wrap="square">
            <a:spAutoFit/>
          </a:bodyPr>
          <a:lstStyle/>
          <a:p>
            <a:pPr algn="ctr"/>
            <a:r>
              <a:rPr sz="1400" b="1" i="0">
                <a:solidFill>
                  <a:srgbClr val="FFFFFF"/>
                </a:solidFill>
                <a:latin typeface="Calibri" panose="020F0502020204030204"/>
              </a:rPr>
              <a:t>3</a:t>
            </a:r>
            <a:endParaRPr sz="1400" b="1" i="0">
              <a:solidFill>
                <a:srgbClr val="FFFFFF"/>
              </a:solidFill>
              <a:latin typeface="Calibri" panose="020F0502020204030204"/>
            </a:endParaRPr>
          </a:p>
        </p:txBody>
      </p:sp>
      <p:sp>
        <p:nvSpPr>
          <p:cNvPr id="21" name="TextBox 20"/>
          <p:cNvSpPr txBox="1"/>
          <p:nvPr/>
        </p:nvSpPr>
        <p:spPr>
          <a:xfrm>
            <a:off x="1005840" y="2788920"/>
            <a:ext cx="2560320" cy="320040"/>
          </a:xfrm>
          <a:prstGeom prst="rect">
            <a:avLst/>
          </a:prstGeom>
          <a:noFill/>
        </p:spPr>
        <p:txBody>
          <a:bodyPr wrap="square">
            <a:spAutoFit/>
          </a:bodyPr>
          <a:lstStyle/>
          <a:p>
            <a:pPr algn="l"/>
            <a:r>
              <a:rPr sz="1200" b="1" i="0">
                <a:solidFill>
                  <a:srgbClr val="00326E"/>
                </a:solidFill>
                <a:latin typeface="Calibri" panose="020F0502020204030204"/>
              </a:rPr>
              <a:t>Dashboard Access</a:t>
            </a:r>
            <a:endParaRPr sz="1200" b="1" i="0">
              <a:solidFill>
                <a:srgbClr val="00326E"/>
              </a:solidFill>
              <a:latin typeface="Calibri" panose="020F0502020204030204"/>
            </a:endParaRPr>
          </a:p>
        </p:txBody>
      </p:sp>
      <p:sp>
        <p:nvSpPr>
          <p:cNvPr id="22" name="TextBox 21"/>
          <p:cNvSpPr txBox="1"/>
          <p:nvPr/>
        </p:nvSpPr>
        <p:spPr>
          <a:xfrm>
            <a:off x="3657600" y="2788920"/>
            <a:ext cx="8229600" cy="548640"/>
          </a:xfrm>
          <a:prstGeom prst="rect">
            <a:avLst/>
          </a:prstGeom>
          <a:noFill/>
        </p:spPr>
        <p:txBody>
          <a:bodyPr wrap="square">
            <a:spAutoFit/>
          </a:bodyPr>
          <a:lstStyle/>
          <a:p>
            <a:pPr algn="l"/>
            <a:r>
              <a:rPr sz="1150" b="0" i="0">
                <a:solidFill>
                  <a:srgbClr val="333333"/>
                </a:solidFill>
                <a:latin typeface="Calibri" panose="020F0502020204030204"/>
              </a:rPr>
              <a:t>Student lands on a personalised dashboard showing all enrolled subject channels as cards.</a:t>
            </a:r>
            <a:endParaRPr sz="1150" b="0" i="0">
              <a:solidFill>
                <a:srgbClr val="333333"/>
              </a:solidFill>
              <a:latin typeface="Calibri" panose="020F0502020204030204"/>
            </a:endParaRPr>
          </a:p>
        </p:txBody>
      </p:sp>
      <p:sp>
        <p:nvSpPr>
          <p:cNvPr id="23" name="Rectangle 22"/>
          <p:cNvSpPr/>
          <p:nvPr/>
        </p:nvSpPr>
        <p:spPr>
          <a:xfrm>
            <a:off x="594360" y="3394456"/>
            <a:ext cx="25400" cy="508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419856"/>
            <a:ext cx="548640" cy="62941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575304"/>
            <a:ext cx="548640" cy="320040"/>
          </a:xfrm>
          <a:prstGeom prst="rect">
            <a:avLst/>
          </a:prstGeom>
          <a:noFill/>
        </p:spPr>
        <p:txBody>
          <a:bodyPr wrap="square">
            <a:spAutoFit/>
          </a:bodyPr>
          <a:lstStyle/>
          <a:p>
            <a:pPr algn="ctr"/>
            <a:r>
              <a:rPr sz="1400" b="1" i="0">
                <a:solidFill>
                  <a:srgbClr val="FFFFFF"/>
                </a:solidFill>
                <a:latin typeface="Calibri" panose="020F0502020204030204"/>
              </a:rPr>
              <a:t>4</a:t>
            </a:r>
            <a:endParaRPr sz="1400" b="1" i="0">
              <a:solidFill>
                <a:srgbClr val="FFFFFF"/>
              </a:solidFill>
              <a:latin typeface="Calibri" panose="020F0502020204030204"/>
            </a:endParaRPr>
          </a:p>
        </p:txBody>
      </p:sp>
      <p:sp>
        <p:nvSpPr>
          <p:cNvPr id="26" name="TextBox 25"/>
          <p:cNvSpPr txBox="1"/>
          <p:nvPr/>
        </p:nvSpPr>
        <p:spPr>
          <a:xfrm>
            <a:off x="1005840" y="3456432"/>
            <a:ext cx="2560320" cy="320040"/>
          </a:xfrm>
          <a:prstGeom prst="rect">
            <a:avLst/>
          </a:prstGeom>
          <a:noFill/>
        </p:spPr>
        <p:txBody>
          <a:bodyPr wrap="square">
            <a:spAutoFit/>
          </a:bodyPr>
          <a:lstStyle/>
          <a:p>
            <a:pPr algn="l"/>
            <a:r>
              <a:rPr sz="1200" b="1" i="0">
                <a:solidFill>
                  <a:srgbClr val="00326E"/>
                </a:solidFill>
                <a:latin typeface="Calibri" panose="020F0502020204030204"/>
              </a:rPr>
              <a:t>Subject Channel</a:t>
            </a:r>
            <a:endParaRPr sz="1200" b="1" i="0">
              <a:solidFill>
                <a:srgbClr val="00326E"/>
              </a:solidFill>
              <a:latin typeface="Calibri" panose="020F0502020204030204"/>
            </a:endParaRPr>
          </a:p>
        </p:txBody>
      </p:sp>
      <p:sp>
        <p:nvSpPr>
          <p:cNvPr id="27" name="TextBox 26"/>
          <p:cNvSpPr txBox="1"/>
          <p:nvPr/>
        </p:nvSpPr>
        <p:spPr>
          <a:xfrm>
            <a:off x="3657600" y="3456432"/>
            <a:ext cx="8229600" cy="548640"/>
          </a:xfrm>
          <a:prstGeom prst="rect">
            <a:avLst/>
          </a:prstGeom>
          <a:noFill/>
        </p:spPr>
        <p:txBody>
          <a:bodyPr wrap="square">
            <a:spAutoFit/>
          </a:bodyPr>
          <a:lstStyle/>
          <a:p>
            <a:pPr algn="l"/>
            <a:r>
              <a:rPr sz="1150" b="0" i="0">
                <a:solidFill>
                  <a:srgbClr val="333333"/>
                </a:solidFill>
                <a:latin typeface="Calibri" panose="020F0502020204030204"/>
              </a:rPr>
              <a:t>Student opens a subject to access Chat, Notes, Assignments, and Files tabs.</a:t>
            </a:r>
            <a:endParaRPr sz="1150" b="0" i="0">
              <a:solidFill>
                <a:srgbClr val="333333"/>
              </a:solidFill>
              <a:latin typeface="Calibri" panose="020F0502020204030204"/>
            </a:endParaRPr>
          </a:p>
        </p:txBody>
      </p:sp>
      <p:sp>
        <p:nvSpPr>
          <p:cNvPr id="28" name="Rectangle 27"/>
          <p:cNvSpPr/>
          <p:nvPr/>
        </p:nvSpPr>
        <p:spPr>
          <a:xfrm>
            <a:off x="594360" y="4061968"/>
            <a:ext cx="25400" cy="508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4087368"/>
            <a:ext cx="548640" cy="62941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4242816"/>
            <a:ext cx="548640" cy="320040"/>
          </a:xfrm>
          <a:prstGeom prst="rect">
            <a:avLst/>
          </a:prstGeom>
          <a:noFill/>
        </p:spPr>
        <p:txBody>
          <a:bodyPr wrap="square">
            <a:spAutoFit/>
          </a:bodyPr>
          <a:lstStyle/>
          <a:p>
            <a:pPr algn="ctr"/>
            <a:r>
              <a:rPr sz="1400" b="1" i="0">
                <a:solidFill>
                  <a:srgbClr val="FFFFFF"/>
                </a:solidFill>
                <a:latin typeface="Calibri" panose="020F0502020204030204"/>
              </a:rPr>
              <a:t>5</a:t>
            </a:r>
            <a:endParaRPr sz="1400" b="1" i="0">
              <a:solidFill>
                <a:srgbClr val="FFFFFF"/>
              </a:solidFill>
              <a:latin typeface="Calibri" panose="020F0502020204030204"/>
            </a:endParaRPr>
          </a:p>
        </p:txBody>
      </p:sp>
      <p:sp>
        <p:nvSpPr>
          <p:cNvPr id="31" name="TextBox 30"/>
          <p:cNvSpPr txBox="1"/>
          <p:nvPr/>
        </p:nvSpPr>
        <p:spPr>
          <a:xfrm>
            <a:off x="1005840" y="4123944"/>
            <a:ext cx="2560320" cy="320040"/>
          </a:xfrm>
          <a:prstGeom prst="rect">
            <a:avLst/>
          </a:prstGeom>
          <a:noFill/>
        </p:spPr>
        <p:txBody>
          <a:bodyPr wrap="square">
            <a:spAutoFit/>
          </a:bodyPr>
          <a:lstStyle/>
          <a:p>
            <a:pPr algn="l"/>
            <a:r>
              <a:rPr sz="1200" b="1" i="0">
                <a:solidFill>
                  <a:srgbClr val="00326E"/>
                </a:solidFill>
                <a:latin typeface="Calibri" panose="020F0502020204030204"/>
              </a:rPr>
              <a:t>Real-Time Chat</a:t>
            </a:r>
            <a:endParaRPr sz="1200" b="1" i="0">
              <a:solidFill>
                <a:srgbClr val="00326E"/>
              </a:solidFill>
              <a:latin typeface="Calibri" panose="020F0502020204030204"/>
            </a:endParaRPr>
          </a:p>
        </p:txBody>
      </p:sp>
      <p:sp>
        <p:nvSpPr>
          <p:cNvPr id="32" name="TextBox 31"/>
          <p:cNvSpPr txBox="1"/>
          <p:nvPr/>
        </p:nvSpPr>
        <p:spPr>
          <a:xfrm>
            <a:off x="3657600" y="4123944"/>
            <a:ext cx="8229600" cy="548640"/>
          </a:xfrm>
          <a:prstGeom prst="rect">
            <a:avLst/>
          </a:prstGeom>
          <a:noFill/>
        </p:spPr>
        <p:txBody>
          <a:bodyPr wrap="square">
            <a:spAutoFit/>
          </a:bodyPr>
          <a:lstStyle/>
          <a:p>
            <a:pPr algn="l"/>
            <a:r>
              <a:rPr sz="1150" b="0" i="0">
                <a:solidFill>
                  <a:srgbClr val="333333"/>
                </a:solidFill>
                <a:latin typeface="Calibri" panose="020F0502020204030204"/>
              </a:rPr>
              <a:t>Messages sent via Socket.IO; persisted to PostgreSQL; delivered instantly to all channel members.</a:t>
            </a:r>
            <a:endParaRPr sz="1150" b="0" i="0">
              <a:solidFill>
                <a:srgbClr val="333333"/>
              </a:solidFill>
              <a:latin typeface="Calibri" panose="020F0502020204030204"/>
            </a:endParaRPr>
          </a:p>
        </p:txBody>
      </p:sp>
      <p:sp>
        <p:nvSpPr>
          <p:cNvPr id="33" name="Rectangle 32"/>
          <p:cNvSpPr/>
          <p:nvPr/>
        </p:nvSpPr>
        <p:spPr>
          <a:xfrm>
            <a:off x="594360" y="4729480"/>
            <a:ext cx="25400" cy="508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5760" y="4754880"/>
            <a:ext cx="548640" cy="62941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4910328"/>
            <a:ext cx="548640" cy="320040"/>
          </a:xfrm>
          <a:prstGeom prst="rect">
            <a:avLst/>
          </a:prstGeom>
          <a:noFill/>
        </p:spPr>
        <p:txBody>
          <a:bodyPr wrap="square">
            <a:spAutoFit/>
          </a:bodyPr>
          <a:lstStyle/>
          <a:p>
            <a:pPr algn="ctr"/>
            <a:r>
              <a:rPr sz="1400" b="1" i="0">
                <a:solidFill>
                  <a:srgbClr val="FFFFFF"/>
                </a:solidFill>
                <a:latin typeface="Calibri" panose="020F0502020204030204"/>
              </a:rPr>
              <a:t>6</a:t>
            </a:r>
            <a:endParaRPr sz="1400" b="1" i="0">
              <a:solidFill>
                <a:srgbClr val="FFFFFF"/>
              </a:solidFill>
              <a:latin typeface="Calibri" panose="020F0502020204030204"/>
            </a:endParaRPr>
          </a:p>
        </p:txBody>
      </p:sp>
      <p:sp>
        <p:nvSpPr>
          <p:cNvPr id="36" name="TextBox 35"/>
          <p:cNvSpPr txBox="1"/>
          <p:nvPr/>
        </p:nvSpPr>
        <p:spPr>
          <a:xfrm>
            <a:off x="1005840" y="4791456"/>
            <a:ext cx="2560320" cy="320040"/>
          </a:xfrm>
          <a:prstGeom prst="rect">
            <a:avLst/>
          </a:prstGeom>
          <a:noFill/>
        </p:spPr>
        <p:txBody>
          <a:bodyPr wrap="square">
            <a:spAutoFit/>
          </a:bodyPr>
          <a:lstStyle/>
          <a:p>
            <a:pPr algn="l"/>
            <a:r>
              <a:rPr sz="1200" b="1" i="0">
                <a:solidFill>
                  <a:srgbClr val="00326E"/>
                </a:solidFill>
                <a:latin typeface="Calibri" panose="020F0502020204030204"/>
              </a:rPr>
              <a:t>Assignment Lifecycle</a:t>
            </a:r>
            <a:endParaRPr sz="1200" b="1" i="0">
              <a:solidFill>
                <a:srgbClr val="00326E"/>
              </a:solidFill>
              <a:latin typeface="Calibri" panose="020F0502020204030204"/>
            </a:endParaRPr>
          </a:p>
        </p:txBody>
      </p:sp>
      <p:sp>
        <p:nvSpPr>
          <p:cNvPr id="37" name="TextBox 36"/>
          <p:cNvSpPr txBox="1"/>
          <p:nvPr/>
        </p:nvSpPr>
        <p:spPr>
          <a:xfrm>
            <a:off x="3657600" y="4791456"/>
            <a:ext cx="8229600" cy="548640"/>
          </a:xfrm>
          <a:prstGeom prst="rect">
            <a:avLst/>
          </a:prstGeom>
          <a:noFill/>
        </p:spPr>
        <p:txBody>
          <a:bodyPr wrap="square">
            <a:spAutoFit/>
          </a:bodyPr>
          <a:lstStyle/>
          <a:p>
            <a:pPr algn="l"/>
            <a:r>
              <a:rPr sz="1150" b="0" i="0">
                <a:solidFill>
                  <a:srgbClr val="333333"/>
                </a:solidFill>
                <a:latin typeface="Calibri" panose="020F0502020204030204"/>
              </a:rPr>
              <a:t>Faculty creates → Students submit (file upload to Cloudinary) → Faculty grades → Notification sent.</a:t>
            </a:r>
            <a:endParaRPr sz="1150" b="0" i="0">
              <a:solidFill>
                <a:srgbClr val="333333"/>
              </a:solidFill>
              <a:latin typeface="Calibri" panose="020F0502020204030204"/>
            </a:endParaRPr>
          </a:p>
        </p:txBody>
      </p:sp>
      <p:sp>
        <p:nvSpPr>
          <p:cNvPr id="38" name="Rectangle 37"/>
          <p:cNvSpPr/>
          <p:nvPr/>
        </p:nvSpPr>
        <p:spPr>
          <a:xfrm>
            <a:off x="594360" y="5396992"/>
            <a:ext cx="25400" cy="508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5422392"/>
            <a:ext cx="548640" cy="62941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5577840"/>
            <a:ext cx="548640" cy="320040"/>
          </a:xfrm>
          <a:prstGeom prst="rect">
            <a:avLst/>
          </a:prstGeom>
          <a:noFill/>
        </p:spPr>
        <p:txBody>
          <a:bodyPr wrap="square">
            <a:spAutoFit/>
          </a:bodyPr>
          <a:lstStyle/>
          <a:p>
            <a:pPr algn="ctr"/>
            <a:r>
              <a:rPr sz="1400" b="1" i="0">
                <a:solidFill>
                  <a:srgbClr val="FFFFFF"/>
                </a:solidFill>
                <a:latin typeface="Calibri" panose="020F0502020204030204"/>
              </a:rPr>
              <a:t>7</a:t>
            </a:r>
            <a:endParaRPr sz="1400" b="1" i="0">
              <a:solidFill>
                <a:srgbClr val="FFFFFF"/>
              </a:solidFill>
              <a:latin typeface="Calibri" panose="020F0502020204030204"/>
            </a:endParaRPr>
          </a:p>
        </p:txBody>
      </p:sp>
      <p:sp>
        <p:nvSpPr>
          <p:cNvPr id="41" name="TextBox 40"/>
          <p:cNvSpPr txBox="1"/>
          <p:nvPr/>
        </p:nvSpPr>
        <p:spPr>
          <a:xfrm>
            <a:off x="1005840" y="5458968"/>
            <a:ext cx="2560320" cy="320040"/>
          </a:xfrm>
          <a:prstGeom prst="rect">
            <a:avLst/>
          </a:prstGeom>
          <a:noFill/>
        </p:spPr>
        <p:txBody>
          <a:bodyPr wrap="square">
            <a:spAutoFit/>
          </a:bodyPr>
          <a:lstStyle/>
          <a:p>
            <a:pPr algn="l"/>
            <a:r>
              <a:rPr sz="1200" b="1" i="0">
                <a:solidFill>
                  <a:srgbClr val="00326E"/>
                </a:solidFill>
                <a:latin typeface="Calibri" panose="020F0502020204030204"/>
              </a:rPr>
              <a:t>Notifications</a:t>
            </a:r>
            <a:endParaRPr sz="1200" b="1" i="0">
              <a:solidFill>
                <a:srgbClr val="00326E"/>
              </a:solidFill>
              <a:latin typeface="Calibri" panose="020F0502020204030204"/>
            </a:endParaRPr>
          </a:p>
        </p:txBody>
      </p:sp>
      <p:sp>
        <p:nvSpPr>
          <p:cNvPr id="42" name="TextBox 41"/>
          <p:cNvSpPr txBox="1"/>
          <p:nvPr/>
        </p:nvSpPr>
        <p:spPr>
          <a:xfrm>
            <a:off x="3657600" y="5458968"/>
            <a:ext cx="8229600" cy="548640"/>
          </a:xfrm>
          <a:prstGeom prst="rect">
            <a:avLst/>
          </a:prstGeom>
          <a:noFill/>
        </p:spPr>
        <p:txBody>
          <a:bodyPr wrap="square">
            <a:spAutoFit/>
          </a:bodyPr>
          <a:lstStyle/>
          <a:p>
            <a:pPr algn="l"/>
            <a:r>
              <a:rPr sz="1150" b="0" i="0">
                <a:solidFill>
                  <a:srgbClr val="333333"/>
                </a:solidFill>
                <a:latin typeface="Calibri" panose="020F0502020204030204"/>
              </a:rPr>
              <a:t>In-app notifications triggered for: new assignment, graded submission, new announcement.</a:t>
            </a:r>
            <a:endParaRPr sz="1150" b="0" i="0">
              <a:solidFill>
                <a:srgbClr val="333333"/>
              </a:solidFill>
              <a:latin typeface="Calibri" panose="020F0502020204030204"/>
            </a:endParaRPr>
          </a:p>
        </p:txBody>
      </p:sp>
      <p:sp>
        <p:nvSpPr>
          <p:cNvPr id="44" name="Slide Number Placeholder 43"/>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4: Implementation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Technologies Used</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63040"/>
            <a:ext cx="5486400" cy="34747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499616"/>
            <a:ext cx="5303520" cy="274320"/>
          </a:xfrm>
          <a:prstGeom prst="rect">
            <a:avLst/>
          </a:prstGeom>
          <a:noFill/>
        </p:spPr>
        <p:txBody>
          <a:bodyPr wrap="square">
            <a:spAutoFit/>
          </a:bodyPr>
          <a:lstStyle/>
          <a:p>
            <a:pPr algn="l"/>
            <a:r>
              <a:rPr sz="1100" b="1" i="0">
                <a:solidFill>
                  <a:srgbClr val="FFFFFF"/>
                </a:solidFill>
                <a:latin typeface="Calibri" panose="020F0502020204030204"/>
              </a:rPr>
              <a:t>FRONTEND</a:t>
            </a:r>
            <a:endParaRPr sz="1100" b="1" i="0">
              <a:solidFill>
                <a:srgbClr val="FFFFFF"/>
              </a:solidFill>
              <a:latin typeface="Calibri" panose="020F0502020204030204"/>
            </a:endParaRPr>
          </a:p>
        </p:txBody>
      </p:sp>
      <p:sp>
        <p:nvSpPr>
          <p:cNvPr id="11" name="TextBox 10"/>
          <p:cNvSpPr txBox="1"/>
          <p:nvPr/>
        </p:nvSpPr>
        <p:spPr>
          <a:xfrm>
            <a:off x="502920" y="1847088"/>
            <a:ext cx="5257800" cy="246888"/>
          </a:xfrm>
          <a:prstGeom prst="rect">
            <a:avLst/>
          </a:prstGeom>
          <a:noFill/>
        </p:spPr>
        <p:txBody>
          <a:bodyPr wrap="square">
            <a:spAutoFit/>
          </a:bodyPr>
          <a:lstStyle/>
          <a:p>
            <a:pPr algn="l"/>
            <a:r>
              <a:rPr sz="1100" b="0" i="0">
                <a:solidFill>
                  <a:srgbClr val="333333"/>
                </a:solidFill>
                <a:latin typeface="Calibri" panose="020F0502020204030204"/>
              </a:rPr>
              <a:t>•  React 18</a:t>
            </a:r>
            <a:endParaRPr sz="1100" b="0" i="0">
              <a:solidFill>
                <a:srgbClr val="333333"/>
              </a:solidFill>
              <a:latin typeface="Calibri" panose="020F0502020204030204"/>
            </a:endParaRPr>
          </a:p>
        </p:txBody>
      </p:sp>
      <p:sp>
        <p:nvSpPr>
          <p:cNvPr id="12" name="TextBox 11"/>
          <p:cNvSpPr txBox="1"/>
          <p:nvPr/>
        </p:nvSpPr>
        <p:spPr>
          <a:xfrm>
            <a:off x="502920" y="2112264"/>
            <a:ext cx="5257800" cy="246888"/>
          </a:xfrm>
          <a:prstGeom prst="rect">
            <a:avLst/>
          </a:prstGeom>
          <a:noFill/>
        </p:spPr>
        <p:txBody>
          <a:bodyPr wrap="square">
            <a:spAutoFit/>
          </a:bodyPr>
          <a:lstStyle/>
          <a:p>
            <a:pPr algn="l"/>
            <a:r>
              <a:rPr sz="1100" b="0" i="0">
                <a:solidFill>
                  <a:srgbClr val="333333"/>
                </a:solidFill>
                <a:latin typeface="Calibri" panose="020F0502020204030204"/>
              </a:rPr>
              <a:t>•  Vite 5</a:t>
            </a:r>
            <a:endParaRPr sz="1100" b="0" i="0">
              <a:solidFill>
                <a:srgbClr val="333333"/>
              </a:solidFill>
              <a:latin typeface="Calibri" panose="020F0502020204030204"/>
            </a:endParaRPr>
          </a:p>
        </p:txBody>
      </p:sp>
      <p:sp>
        <p:nvSpPr>
          <p:cNvPr id="13" name="TextBox 12"/>
          <p:cNvSpPr txBox="1"/>
          <p:nvPr/>
        </p:nvSpPr>
        <p:spPr>
          <a:xfrm>
            <a:off x="502920" y="2377440"/>
            <a:ext cx="5257800" cy="246888"/>
          </a:xfrm>
          <a:prstGeom prst="rect">
            <a:avLst/>
          </a:prstGeom>
          <a:noFill/>
        </p:spPr>
        <p:txBody>
          <a:bodyPr wrap="square">
            <a:spAutoFit/>
          </a:bodyPr>
          <a:lstStyle/>
          <a:p>
            <a:pPr algn="l"/>
            <a:r>
              <a:rPr sz="1100" b="0" i="0">
                <a:solidFill>
                  <a:srgbClr val="333333"/>
                </a:solidFill>
                <a:latin typeface="Calibri" panose="020F0502020204030204"/>
              </a:rPr>
              <a:t>•  Tailwind CSS 3</a:t>
            </a:r>
            <a:endParaRPr sz="1100" b="0" i="0">
              <a:solidFill>
                <a:srgbClr val="333333"/>
              </a:solidFill>
              <a:latin typeface="Calibri" panose="020F0502020204030204"/>
            </a:endParaRPr>
          </a:p>
        </p:txBody>
      </p:sp>
      <p:sp>
        <p:nvSpPr>
          <p:cNvPr id="14" name="TextBox 13"/>
          <p:cNvSpPr txBox="1"/>
          <p:nvPr/>
        </p:nvSpPr>
        <p:spPr>
          <a:xfrm>
            <a:off x="502920" y="2642616"/>
            <a:ext cx="5257800" cy="246888"/>
          </a:xfrm>
          <a:prstGeom prst="rect">
            <a:avLst/>
          </a:prstGeom>
          <a:noFill/>
        </p:spPr>
        <p:txBody>
          <a:bodyPr wrap="square">
            <a:spAutoFit/>
          </a:bodyPr>
          <a:lstStyle/>
          <a:p>
            <a:pPr algn="l"/>
            <a:r>
              <a:rPr sz="1100" b="0" i="0">
                <a:solidFill>
                  <a:srgbClr val="333333"/>
                </a:solidFill>
                <a:latin typeface="Calibri" panose="020F0502020204030204"/>
              </a:rPr>
              <a:t>•  React Router DOM v6</a:t>
            </a:r>
            <a:endParaRPr sz="1100" b="0" i="0">
              <a:solidFill>
                <a:srgbClr val="333333"/>
              </a:solidFill>
              <a:latin typeface="Calibri" panose="020F0502020204030204"/>
            </a:endParaRPr>
          </a:p>
        </p:txBody>
      </p:sp>
      <p:sp>
        <p:nvSpPr>
          <p:cNvPr id="15" name="TextBox 14"/>
          <p:cNvSpPr txBox="1"/>
          <p:nvPr/>
        </p:nvSpPr>
        <p:spPr>
          <a:xfrm>
            <a:off x="502920" y="2907792"/>
            <a:ext cx="5257800" cy="246888"/>
          </a:xfrm>
          <a:prstGeom prst="rect">
            <a:avLst/>
          </a:prstGeom>
          <a:noFill/>
        </p:spPr>
        <p:txBody>
          <a:bodyPr wrap="square">
            <a:spAutoFit/>
          </a:bodyPr>
          <a:lstStyle/>
          <a:p>
            <a:pPr algn="l"/>
            <a:r>
              <a:rPr sz="1100" b="0" i="0">
                <a:solidFill>
                  <a:srgbClr val="333333"/>
                </a:solidFill>
                <a:latin typeface="Calibri" panose="020F0502020204030204"/>
              </a:rPr>
              <a:t>•  Axios 1.7</a:t>
            </a:r>
            <a:endParaRPr sz="1100" b="0" i="0">
              <a:solidFill>
                <a:srgbClr val="333333"/>
              </a:solidFill>
              <a:latin typeface="Calibri" panose="020F0502020204030204"/>
            </a:endParaRPr>
          </a:p>
        </p:txBody>
      </p:sp>
      <p:sp>
        <p:nvSpPr>
          <p:cNvPr id="16" name="TextBox 15"/>
          <p:cNvSpPr txBox="1"/>
          <p:nvPr/>
        </p:nvSpPr>
        <p:spPr>
          <a:xfrm>
            <a:off x="502920" y="3172968"/>
            <a:ext cx="5257800" cy="246888"/>
          </a:xfrm>
          <a:prstGeom prst="rect">
            <a:avLst/>
          </a:prstGeom>
          <a:noFill/>
        </p:spPr>
        <p:txBody>
          <a:bodyPr wrap="square">
            <a:spAutoFit/>
          </a:bodyPr>
          <a:lstStyle/>
          <a:p>
            <a:pPr algn="l"/>
            <a:r>
              <a:rPr sz="1100" b="0" i="0">
                <a:solidFill>
                  <a:srgbClr val="333333"/>
                </a:solidFill>
                <a:latin typeface="Calibri" panose="020F0502020204030204"/>
              </a:rPr>
              <a:t>•  Socket.IO-Client 4.7</a:t>
            </a:r>
            <a:endParaRPr sz="1100" b="0" i="0">
              <a:solidFill>
                <a:srgbClr val="333333"/>
              </a:solidFill>
              <a:latin typeface="Calibri" panose="020F0502020204030204"/>
            </a:endParaRPr>
          </a:p>
        </p:txBody>
      </p:sp>
      <p:sp>
        <p:nvSpPr>
          <p:cNvPr id="17" name="TextBox 16"/>
          <p:cNvSpPr txBox="1"/>
          <p:nvPr/>
        </p:nvSpPr>
        <p:spPr>
          <a:xfrm>
            <a:off x="502920" y="3438144"/>
            <a:ext cx="5257800" cy="246888"/>
          </a:xfrm>
          <a:prstGeom prst="rect">
            <a:avLst/>
          </a:prstGeom>
          <a:noFill/>
        </p:spPr>
        <p:txBody>
          <a:bodyPr wrap="square">
            <a:spAutoFit/>
          </a:bodyPr>
          <a:lstStyle/>
          <a:p>
            <a:pPr algn="l"/>
            <a:r>
              <a:rPr sz="1100" b="0" i="0">
                <a:solidFill>
                  <a:srgbClr val="333333"/>
                </a:solidFill>
                <a:latin typeface="Calibri" panose="020F0502020204030204"/>
              </a:rPr>
              <a:t>•  date-fns 3.6</a:t>
            </a:r>
            <a:endParaRPr sz="1100" b="0" i="0">
              <a:solidFill>
                <a:srgbClr val="333333"/>
              </a:solidFill>
              <a:latin typeface="Calibri" panose="020F0502020204030204"/>
            </a:endParaRPr>
          </a:p>
        </p:txBody>
      </p:sp>
      <p:sp>
        <p:nvSpPr>
          <p:cNvPr id="18" name="Rectangle 17"/>
          <p:cNvSpPr/>
          <p:nvPr/>
        </p:nvSpPr>
        <p:spPr>
          <a:xfrm>
            <a:off x="6492240" y="1463040"/>
            <a:ext cx="5486400" cy="34747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1499616"/>
            <a:ext cx="5303520" cy="274320"/>
          </a:xfrm>
          <a:prstGeom prst="rect">
            <a:avLst/>
          </a:prstGeom>
          <a:noFill/>
        </p:spPr>
        <p:txBody>
          <a:bodyPr wrap="square">
            <a:spAutoFit/>
          </a:bodyPr>
          <a:lstStyle/>
          <a:p>
            <a:pPr algn="l"/>
            <a:r>
              <a:rPr sz="1100" b="1" i="0">
                <a:solidFill>
                  <a:srgbClr val="FFFFFF"/>
                </a:solidFill>
                <a:latin typeface="Calibri" panose="020F0502020204030204"/>
              </a:rPr>
              <a:t>BACKEND</a:t>
            </a:r>
            <a:endParaRPr sz="1100" b="1" i="0">
              <a:solidFill>
                <a:srgbClr val="FFFFFF"/>
              </a:solidFill>
              <a:latin typeface="Calibri" panose="020F0502020204030204"/>
            </a:endParaRPr>
          </a:p>
        </p:txBody>
      </p:sp>
      <p:sp>
        <p:nvSpPr>
          <p:cNvPr id="20" name="TextBox 19"/>
          <p:cNvSpPr txBox="1"/>
          <p:nvPr/>
        </p:nvSpPr>
        <p:spPr>
          <a:xfrm>
            <a:off x="6629400" y="1847088"/>
            <a:ext cx="5257800" cy="246888"/>
          </a:xfrm>
          <a:prstGeom prst="rect">
            <a:avLst/>
          </a:prstGeom>
          <a:noFill/>
        </p:spPr>
        <p:txBody>
          <a:bodyPr wrap="square">
            <a:spAutoFit/>
          </a:bodyPr>
          <a:lstStyle/>
          <a:p>
            <a:pPr algn="l"/>
            <a:r>
              <a:rPr sz="1100" b="0" i="0">
                <a:solidFill>
                  <a:srgbClr val="333333"/>
                </a:solidFill>
                <a:latin typeface="Calibri" panose="020F0502020204030204"/>
              </a:rPr>
              <a:t>•  Node.js</a:t>
            </a:r>
            <a:endParaRPr sz="1100" b="0" i="0">
              <a:solidFill>
                <a:srgbClr val="333333"/>
              </a:solidFill>
              <a:latin typeface="Calibri" panose="020F0502020204030204"/>
            </a:endParaRPr>
          </a:p>
        </p:txBody>
      </p:sp>
      <p:sp>
        <p:nvSpPr>
          <p:cNvPr id="21" name="TextBox 20"/>
          <p:cNvSpPr txBox="1"/>
          <p:nvPr/>
        </p:nvSpPr>
        <p:spPr>
          <a:xfrm>
            <a:off x="6629400" y="2112264"/>
            <a:ext cx="5257800" cy="246888"/>
          </a:xfrm>
          <a:prstGeom prst="rect">
            <a:avLst/>
          </a:prstGeom>
          <a:noFill/>
        </p:spPr>
        <p:txBody>
          <a:bodyPr wrap="square">
            <a:spAutoFit/>
          </a:bodyPr>
          <a:lstStyle/>
          <a:p>
            <a:pPr algn="l"/>
            <a:r>
              <a:rPr sz="1100" b="0" i="0">
                <a:solidFill>
                  <a:srgbClr val="333333"/>
                </a:solidFill>
                <a:latin typeface="Calibri" panose="020F0502020204030204"/>
              </a:rPr>
              <a:t>•  Express.js 4.18</a:t>
            </a:r>
            <a:endParaRPr sz="1100" b="0" i="0">
              <a:solidFill>
                <a:srgbClr val="333333"/>
              </a:solidFill>
              <a:latin typeface="Calibri" panose="020F0502020204030204"/>
            </a:endParaRPr>
          </a:p>
        </p:txBody>
      </p:sp>
      <p:sp>
        <p:nvSpPr>
          <p:cNvPr id="22" name="TextBox 21"/>
          <p:cNvSpPr txBox="1"/>
          <p:nvPr/>
        </p:nvSpPr>
        <p:spPr>
          <a:xfrm>
            <a:off x="6629400" y="2377440"/>
            <a:ext cx="5257800" cy="246888"/>
          </a:xfrm>
          <a:prstGeom prst="rect">
            <a:avLst/>
          </a:prstGeom>
          <a:noFill/>
        </p:spPr>
        <p:txBody>
          <a:bodyPr wrap="square">
            <a:spAutoFit/>
          </a:bodyPr>
          <a:lstStyle/>
          <a:p>
            <a:pPr algn="l"/>
            <a:r>
              <a:rPr sz="1100" b="0" i="0">
                <a:solidFill>
                  <a:srgbClr val="333333"/>
                </a:solidFill>
                <a:latin typeface="Calibri" panose="020F0502020204030204"/>
              </a:rPr>
              <a:t>•  Socket.IO 4.7</a:t>
            </a:r>
            <a:endParaRPr sz="1100" b="0" i="0">
              <a:solidFill>
                <a:srgbClr val="333333"/>
              </a:solidFill>
              <a:latin typeface="Calibri" panose="020F0502020204030204"/>
            </a:endParaRPr>
          </a:p>
        </p:txBody>
      </p:sp>
      <p:sp>
        <p:nvSpPr>
          <p:cNvPr id="23" name="TextBox 22"/>
          <p:cNvSpPr txBox="1"/>
          <p:nvPr/>
        </p:nvSpPr>
        <p:spPr>
          <a:xfrm>
            <a:off x="6629400" y="2642616"/>
            <a:ext cx="5257800" cy="246888"/>
          </a:xfrm>
          <a:prstGeom prst="rect">
            <a:avLst/>
          </a:prstGeom>
          <a:noFill/>
        </p:spPr>
        <p:txBody>
          <a:bodyPr wrap="square">
            <a:spAutoFit/>
          </a:bodyPr>
          <a:lstStyle/>
          <a:p>
            <a:pPr algn="l"/>
            <a:r>
              <a:rPr sz="1100" b="0" i="0">
                <a:solidFill>
                  <a:srgbClr val="333333"/>
                </a:solidFill>
                <a:latin typeface="Calibri" panose="020F0502020204030204"/>
              </a:rPr>
              <a:t>•  Multer 1.4 (file handling)</a:t>
            </a:r>
            <a:endParaRPr sz="1100" b="0" i="0">
              <a:solidFill>
                <a:srgbClr val="333333"/>
              </a:solidFill>
              <a:latin typeface="Calibri" panose="020F0502020204030204"/>
            </a:endParaRPr>
          </a:p>
        </p:txBody>
      </p:sp>
      <p:sp>
        <p:nvSpPr>
          <p:cNvPr id="24" name="TextBox 23"/>
          <p:cNvSpPr txBox="1"/>
          <p:nvPr/>
        </p:nvSpPr>
        <p:spPr>
          <a:xfrm>
            <a:off x="6629400" y="2907792"/>
            <a:ext cx="5257800" cy="246888"/>
          </a:xfrm>
          <a:prstGeom prst="rect">
            <a:avLst/>
          </a:prstGeom>
          <a:noFill/>
        </p:spPr>
        <p:txBody>
          <a:bodyPr wrap="square">
            <a:spAutoFit/>
          </a:bodyPr>
          <a:lstStyle/>
          <a:p>
            <a:pPr algn="l"/>
            <a:r>
              <a:rPr sz="1100" b="0" i="0">
                <a:solidFill>
                  <a:srgbClr val="333333"/>
                </a:solidFill>
                <a:latin typeface="Calibri" panose="020F0502020204030204"/>
              </a:rPr>
              <a:t>•  Multer-Storage-Cloudinary</a:t>
            </a:r>
            <a:endParaRPr sz="1100" b="0" i="0">
              <a:solidFill>
                <a:srgbClr val="333333"/>
              </a:solidFill>
              <a:latin typeface="Calibri" panose="020F0502020204030204"/>
            </a:endParaRPr>
          </a:p>
        </p:txBody>
      </p:sp>
      <p:sp>
        <p:nvSpPr>
          <p:cNvPr id="25" name="TextBox 24"/>
          <p:cNvSpPr txBox="1"/>
          <p:nvPr/>
        </p:nvSpPr>
        <p:spPr>
          <a:xfrm>
            <a:off x="6629400" y="3172968"/>
            <a:ext cx="5257800" cy="246888"/>
          </a:xfrm>
          <a:prstGeom prst="rect">
            <a:avLst/>
          </a:prstGeom>
          <a:noFill/>
        </p:spPr>
        <p:txBody>
          <a:bodyPr wrap="square">
            <a:spAutoFit/>
          </a:bodyPr>
          <a:lstStyle/>
          <a:p>
            <a:pPr algn="l"/>
            <a:r>
              <a:rPr sz="1100" b="0" i="0">
                <a:solidFill>
                  <a:srgbClr val="333333"/>
                </a:solidFill>
                <a:latin typeface="Calibri" panose="020F0502020204030204"/>
              </a:rPr>
              <a:t>•  bcryptjs 2.4 (password hashing)</a:t>
            </a:r>
            <a:endParaRPr sz="1100" b="0" i="0">
              <a:solidFill>
                <a:srgbClr val="333333"/>
              </a:solidFill>
              <a:latin typeface="Calibri" panose="020F0502020204030204"/>
            </a:endParaRPr>
          </a:p>
        </p:txBody>
      </p:sp>
      <p:sp>
        <p:nvSpPr>
          <p:cNvPr id="26" name="TextBox 25"/>
          <p:cNvSpPr txBox="1"/>
          <p:nvPr/>
        </p:nvSpPr>
        <p:spPr>
          <a:xfrm>
            <a:off x="6629400" y="3438144"/>
            <a:ext cx="5257800" cy="246888"/>
          </a:xfrm>
          <a:prstGeom prst="rect">
            <a:avLst/>
          </a:prstGeom>
          <a:noFill/>
        </p:spPr>
        <p:txBody>
          <a:bodyPr wrap="square">
            <a:spAutoFit/>
          </a:bodyPr>
          <a:lstStyle/>
          <a:p>
            <a:pPr algn="l"/>
            <a:r>
              <a:rPr sz="1100" b="0" i="0">
                <a:solidFill>
                  <a:srgbClr val="333333"/>
                </a:solidFill>
                <a:latin typeface="Calibri" panose="020F0502020204030204"/>
              </a:rPr>
              <a:t>•  jsonwebtoken 9.0</a:t>
            </a:r>
            <a:endParaRPr sz="1100" b="0" i="0">
              <a:solidFill>
                <a:srgbClr val="333333"/>
              </a:solidFill>
              <a:latin typeface="Calibri" panose="020F0502020204030204"/>
            </a:endParaRPr>
          </a:p>
        </p:txBody>
      </p:sp>
      <p:sp>
        <p:nvSpPr>
          <p:cNvPr id="27" name="TextBox 26"/>
          <p:cNvSpPr txBox="1"/>
          <p:nvPr/>
        </p:nvSpPr>
        <p:spPr>
          <a:xfrm>
            <a:off x="6629400" y="3703320"/>
            <a:ext cx="5257800" cy="246888"/>
          </a:xfrm>
          <a:prstGeom prst="rect">
            <a:avLst/>
          </a:prstGeom>
          <a:noFill/>
        </p:spPr>
        <p:txBody>
          <a:bodyPr wrap="square">
            <a:spAutoFit/>
          </a:bodyPr>
          <a:lstStyle/>
          <a:p>
            <a:pPr algn="l"/>
            <a:r>
              <a:rPr sz="1100" b="0" i="0">
                <a:solidFill>
                  <a:srgbClr val="333333"/>
                </a:solidFill>
                <a:latin typeface="Calibri" panose="020F0502020204030204"/>
              </a:rPr>
              <a:t>•  express-async-errors</a:t>
            </a:r>
            <a:endParaRPr sz="1100" b="0" i="0">
              <a:solidFill>
                <a:srgbClr val="333333"/>
              </a:solidFill>
              <a:latin typeface="Calibri" panose="020F0502020204030204"/>
            </a:endParaRPr>
          </a:p>
        </p:txBody>
      </p:sp>
      <p:sp>
        <p:nvSpPr>
          <p:cNvPr id="28" name="Rectangle 27"/>
          <p:cNvSpPr/>
          <p:nvPr/>
        </p:nvSpPr>
        <p:spPr>
          <a:xfrm>
            <a:off x="365760" y="3886200"/>
            <a:ext cx="5486400" cy="34747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922776"/>
            <a:ext cx="5303520" cy="274320"/>
          </a:xfrm>
          <a:prstGeom prst="rect">
            <a:avLst/>
          </a:prstGeom>
          <a:noFill/>
        </p:spPr>
        <p:txBody>
          <a:bodyPr wrap="square">
            <a:spAutoFit/>
          </a:bodyPr>
          <a:lstStyle/>
          <a:p>
            <a:pPr algn="l"/>
            <a:r>
              <a:rPr sz="1100" b="1" i="0">
                <a:solidFill>
                  <a:srgbClr val="FFFFFF"/>
                </a:solidFill>
                <a:latin typeface="Calibri" panose="020F0502020204030204"/>
              </a:rPr>
              <a:t>DATABASE</a:t>
            </a:r>
            <a:endParaRPr sz="1100" b="1" i="0">
              <a:solidFill>
                <a:srgbClr val="FFFFFF"/>
              </a:solidFill>
              <a:latin typeface="Calibri" panose="020F0502020204030204"/>
            </a:endParaRPr>
          </a:p>
        </p:txBody>
      </p:sp>
      <p:sp>
        <p:nvSpPr>
          <p:cNvPr id="30" name="TextBox 29"/>
          <p:cNvSpPr txBox="1"/>
          <p:nvPr/>
        </p:nvSpPr>
        <p:spPr>
          <a:xfrm>
            <a:off x="502920" y="4270248"/>
            <a:ext cx="5257800" cy="246888"/>
          </a:xfrm>
          <a:prstGeom prst="rect">
            <a:avLst/>
          </a:prstGeom>
          <a:noFill/>
        </p:spPr>
        <p:txBody>
          <a:bodyPr wrap="square">
            <a:spAutoFit/>
          </a:bodyPr>
          <a:lstStyle/>
          <a:p>
            <a:pPr algn="l"/>
            <a:r>
              <a:rPr sz="1100" b="0" i="0">
                <a:solidFill>
                  <a:srgbClr val="333333"/>
                </a:solidFill>
                <a:latin typeface="Calibri" panose="020F0502020204030204"/>
              </a:rPr>
              <a:t>•  PostgreSQL (via pg 8.11)</a:t>
            </a:r>
            <a:endParaRPr sz="1100" b="0" i="0">
              <a:solidFill>
                <a:srgbClr val="333333"/>
              </a:solidFill>
              <a:latin typeface="Calibri" panose="020F0502020204030204"/>
            </a:endParaRPr>
          </a:p>
        </p:txBody>
      </p:sp>
      <p:sp>
        <p:nvSpPr>
          <p:cNvPr id="31" name="TextBox 30"/>
          <p:cNvSpPr txBox="1"/>
          <p:nvPr/>
        </p:nvSpPr>
        <p:spPr>
          <a:xfrm>
            <a:off x="502920" y="4535424"/>
            <a:ext cx="5257800" cy="246888"/>
          </a:xfrm>
          <a:prstGeom prst="rect">
            <a:avLst/>
          </a:prstGeom>
          <a:noFill/>
        </p:spPr>
        <p:txBody>
          <a:bodyPr wrap="square">
            <a:spAutoFit/>
          </a:bodyPr>
          <a:lstStyle/>
          <a:p>
            <a:pPr algn="l"/>
            <a:r>
              <a:rPr sz="1100" b="0" i="0">
                <a:solidFill>
                  <a:srgbClr val="333333"/>
                </a:solidFill>
                <a:latin typeface="Calibri" panose="020F0502020204030204"/>
              </a:rPr>
              <a:t>•  Supabase / Neon (cloud hosted)</a:t>
            </a:r>
            <a:endParaRPr sz="1100" b="0" i="0">
              <a:solidFill>
                <a:srgbClr val="333333"/>
              </a:solidFill>
              <a:latin typeface="Calibri" panose="020F0502020204030204"/>
            </a:endParaRPr>
          </a:p>
        </p:txBody>
      </p:sp>
      <p:sp>
        <p:nvSpPr>
          <p:cNvPr id="32" name="TextBox 31"/>
          <p:cNvSpPr txBox="1"/>
          <p:nvPr/>
        </p:nvSpPr>
        <p:spPr>
          <a:xfrm>
            <a:off x="502920" y="4800600"/>
            <a:ext cx="5257800" cy="246888"/>
          </a:xfrm>
          <a:prstGeom prst="rect">
            <a:avLst/>
          </a:prstGeom>
          <a:noFill/>
        </p:spPr>
        <p:txBody>
          <a:bodyPr wrap="square">
            <a:spAutoFit/>
          </a:bodyPr>
          <a:lstStyle/>
          <a:p>
            <a:pPr algn="l"/>
            <a:r>
              <a:rPr sz="1100" b="0" i="0">
                <a:solidFill>
                  <a:srgbClr val="333333"/>
                </a:solidFill>
                <a:latin typeface="Calibri" panose="020F0502020204030204"/>
              </a:rPr>
              <a:t>•  Connection pooling</a:t>
            </a:r>
            <a:endParaRPr sz="1100" b="0" i="0">
              <a:solidFill>
                <a:srgbClr val="333333"/>
              </a:solidFill>
              <a:latin typeface="Calibri" panose="020F0502020204030204"/>
            </a:endParaRPr>
          </a:p>
        </p:txBody>
      </p:sp>
      <p:sp>
        <p:nvSpPr>
          <p:cNvPr id="33" name="TextBox 32"/>
          <p:cNvSpPr txBox="1"/>
          <p:nvPr/>
        </p:nvSpPr>
        <p:spPr>
          <a:xfrm>
            <a:off x="502920" y="5065776"/>
            <a:ext cx="5257800" cy="246888"/>
          </a:xfrm>
          <a:prstGeom prst="rect">
            <a:avLst/>
          </a:prstGeom>
          <a:noFill/>
        </p:spPr>
        <p:txBody>
          <a:bodyPr wrap="square">
            <a:spAutoFit/>
          </a:bodyPr>
          <a:lstStyle/>
          <a:p>
            <a:pPr algn="l"/>
            <a:r>
              <a:rPr sz="1100" b="0" i="0">
                <a:solidFill>
                  <a:srgbClr val="333333"/>
                </a:solidFill>
                <a:latin typeface="Calibri" panose="020F0502020204030204"/>
              </a:rPr>
              <a:t>•  13 relational tables</a:t>
            </a:r>
            <a:endParaRPr sz="1100" b="0" i="0">
              <a:solidFill>
                <a:srgbClr val="333333"/>
              </a:solidFill>
              <a:latin typeface="Calibri" panose="020F0502020204030204"/>
            </a:endParaRPr>
          </a:p>
        </p:txBody>
      </p:sp>
      <p:sp>
        <p:nvSpPr>
          <p:cNvPr id="34" name="Rectangle 33"/>
          <p:cNvSpPr/>
          <p:nvPr/>
        </p:nvSpPr>
        <p:spPr>
          <a:xfrm>
            <a:off x="6492240" y="3886200"/>
            <a:ext cx="5486400" cy="347472"/>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3922776"/>
            <a:ext cx="5303520" cy="274320"/>
          </a:xfrm>
          <a:prstGeom prst="rect">
            <a:avLst/>
          </a:prstGeom>
          <a:noFill/>
        </p:spPr>
        <p:txBody>
          <a:bodyPr wrap="square">
            <a:spAutoFit/>
          </a:bodyPr>
          <a:lstStyle/>
          <a:p>
            <a:pPr algn="l"/>
            <a:r>
              <a:rPr sz="1100" b="1" i="0">
                <a:solidFill>
                  <a:srgbClr val="FFFFFF"/>
                </a:solidFill>
                <a:latin typeface="Calibri" panose="020F0502020204030204"/>
              </a:rPr>
              <a:t>CLOUD/DEVOPS</a:t>
            </a:r>
            <a:endParaRPr sz="1100" b="1" i="0">
              <a:solidFill>
                <a:srgbClr val="FFFFFF"/>
              </a:solidFill>
              <a:latin typeface="Calibri" panose="020F0502020204030204"/>
            </a:endParaRPr>
          </a:p>
        </p:txBody>
      </p:sp>
      <p:sp>
        <p:nvSpPr>
          <p:cNvPr id="36" name="TextBox 35"/>
          <p:cNvSpPr txBox="1"/>
          <p:nvPr/>
        </p:nvSpPr>
        <p:spPr>
          <a:xfrm>
            <a:off x="6629400" y="4270248"/>
            <a:ext cx="5257800" cy="246888"/>
          </a:xfrm>
          <a:prstGeom prst="rect">
            <a:avLst/>
          </a:prstGeom>
          <a:noFill/>
        </p:spPr>
        <p:txBody>
          <a:bodyPr wrap="square">
            <a:spAutoFit/>
          </a:bodyPr>
          <a:lstStyle/>
          <a:p>
            <a:pPr algn="l"/>
            <a:r>
              <a:rPr sz="1100" b="0" i="0">
                <a:solidFill>
                  <a:srgbClr val="333333"/>
                </a:solidFill>
                <a:latin typeface="Calibri" panose="020F0502020204030204"/>
              </a:rPr>
              <a:t>•  Cloudinary (file &amp; media CDN)</a:t>
            </a:r>
            <a:endParaRPr sz="1100" b="0" i="0">
              <a:solidFill>
                <a:srgbClr val="333333"/>
              </a:solidFill>
              <a:latin typeface="Calibri" panose="020F0502020204030204"/>
            </a:endParaRPr>
          </a:p>
        </p:txBody>
      </p:sp>
      <p:sp>
        <p:nvSpPr>
          <p:cNvPr id="37" name="TextBox 36"/>
          <p:cNvSpPr txBox="1"/>
          <p:nvPr/>
        </p:nvSpPr>
        <p:spPr>
          <a:xfrm>
            <a:off x="6629400" y="4535424"/>
            <a:ext cx="5257800" cy="246888"/>
          </a:xfrm>
          <a:prstGeom prst="rect">
            <a:avLst/>
          </a:prstGeom>
          <a:noFill/>
        </p:spPr>
        <p:txBody>
          <a:bodyPr wrap="square">
            <a:spAutoFit/>
          </a:bodyPr>
          <a:lstStyle/>
          <a:p>
            <a:pPr algn="l"/>
            <a:r>
              <a:rPr sz="1100" b="0" i="0">
                <a:solidFill>
                  <a:srgbClr val="333333"/>
                </a:solidFill>
                <a:latin typeface="Calibri" panose="020F0502020204030204"/>
              </a:rPr>
              <a:t>•  Vercel (frontend deployment)</a:t>
            </a:r>
            <a:endParaRPr sz="1100" b="0" i="0">
              <a:solidFill>
                <a:srgbClr val="333333"/>
              </a:solidFill>
              <a:latin typeface="Calibri" panose="020F0502020204030204"/>
            </a:endParaRPr>
          </a:p>
        </p:txBody>
      </p:sp>
      <p:sp>
        <p:nvSpPr>
          <p:cNvPr id="38" name="TextBox 37"/>
          <p:cNvSpPr txBox="1"/>
          <p:nvPr/>
        </p:nvSpPr>
        <p:spPr>
          <a:xfrm>
            <a:off x="6629400" y="4800600"/>
            <a:ext cx="5257800" cy="246888"/>
          </a:xfrm>
          <a:prstGeom prst="rect">
            <a:avLst/>
          </a:prstGeom>
          <a:noFill/>
        </p:spPr>
        <p:txBody>
          <a:bodyPr wrap="square">
            <a:spAutoFit/>
          </a:bodyPr>
          <a:lstStyle/>
          <a:p>
            <a:pPr algn="l"/>
            <a:r>
              <a:rPr sz="1100" b="0" i="0">
                <a:solidFill>
                  <a:srgbClr val="333333"/>
                </a:solidFill>
                <a:latin typeface="Calibri" panose="020F0502020204030204"/>
              </a:rPr>
              <a:t>•  Render (backend deployment)</a:t>
            </a:r>
            <a:endParaRPr sz="1100" b="0" i="0">
              <a:solidFill>
                <a:srgbClr val="333333"/>
              </a:solidFill>
              <a:latin typeface="Calibri" panose="020F0502020204030204"/>
            </a:endParaRPr>
          </a:p>
        </p:txBody>
      </p:sp>
      <p:sp>
        <p:nvSpPr>
          <p:cNvPr id="39" name="TextBox 38"/>
          <p:cNvSpPr txBox="1"/>
          <p:nvPr/>
        </p:nvSpPr>
        <p:spPr>
          <a:xfrm>
            <a:off x="6629400" y="5065776"/>
            <a:ext cx="5257800" cy="246888"/>
          </a:xfrm>
          <a:prstGeom prst="rect">
            <a:avLst/>
          </a:prstGeom>
          <a:noFill/>
        </p:spPr>
        <p:txBody>
          <a:bodyPr wrap="square">
            <a:spAutoFit/>
          </a:bodyPr>
          <a:lstStyle/>
          <a:p>
            <a:pPr algn="l"/>
            <a:r>
              <a:rPr sz="1100" b="0" i="0">
                <a:solidFill>
                  <a:srgbClr val="333333"/>
                </a:solidFill>
                <a:latin typeface="Calibri" panose="020F0502020204030204"/>
              </a:rPr>
              <a:t>•  dotenv (env management)</a:t>
            </a:r>
            <a:endParaRPr sz="1100" b="0" i="0">
              <a:solidFill>
                <a:srgbClr val="333333"/>
              </a:solidFill>
              <a:latin typeface="Calibri" panose="020F0502020204030204"/>
            </a:endParaRPr>
          </a:p>
        </p:txBody>
      </p:sp>
      <p:sp>
        <p:nvSpPr>
          <p:cNvPr id="40" name="TextBox 39"/>
          <p:cNvSpPr txBox="1"/>
          <p:nvPr/>
        </p:nvSpPr>
        <p:spPr>
          <a:xfrm>
            <a:off x="6629400" y="5330952"/>
            <a:ext cx="5257800" cy="246888"/>
          </a:xfrm>
          <a:prstGeom prst="rect">
            <a:avLst/>
          </a:prstGeom>
          <a:noFill/>
        </p:spPr>
        <p:txBody>
          <a:bodyPr wrap="square">
            <a:spAutoFit/>
          </a:bodyPr>
          <a:lstStyle/>
          <a:p>
            <a:pPr algn="l"/>
            <a:r>
              <a:rPr sz="1100" b="0" i="0">
                <a:solidFill>
                  <a:srgbClr val="333333"/>
                </a:solidFill>
                <a:latin typeface="Calibri" panose="020F0502020204030204"/>
              </a:rPr>
              <a:t>•  Nodemon (development)</a:t>
            </a:r>
            <a:endParaRPr sz="1100" b="0" i="0">
              <a:solidFill>
                <a:srgbClr val="333333"/>
              </a:solidFill>
              <a:latin typeface="Calibri" panose="020F0502020204030204"/>
            </a:endParaRPr>
          </a:p>
        </p:txBody>
      </p:sp>
      <p:sp>
        <p:nvSpPr>
          <p:cNvPr id="41" name="TextBox 40"/>
          <p:cNvSpPr txBox="1"/>
          <p:nvPr/>
        </p:nvSpPr>
        <p:spPr>
          <a:xfrm>
            <a:off x="6629400" y="5596128"/>
            <a:ext cx="5257800" cy="246888"/>
          </a:xfrm>
          <a:prstGeom prst="rect">
            <a:avLst/>
          </a:prstGeom>
          <a:noFill/>
        </p:spPr>
        <p:txBody>
          <a:bodyPr wrap="square">
            <a:spAutoFit/>
          </a:bodyPr>
          <a:lstStyle/>
          <a:p>
            <a:pPr algn="l"/>
            <a:r>
              <a:rPr sz="1100" b="0" i="0">
                <a:solidFill>
                  <a:srgbClr val="333333"/>
                </a:solidFill>
                <a:latin typeface="Calibri" panose="020F0502020204030204"/>
              </a:rPr>
              <a:t>•  Git + GitHub (version control)</a:t>
            </a:r>
            <a:endParaRPr sz="1100" b="0" i="0">
              <a:solidFill>
                <a:srgbClr val="333333"/>
              </a:solidFill>
              <a:latin typeface="Calibri" panose="020F0502020204030204"/>
            </a:endParaRPr>
          </a:p>
        </p:txBody>
      </p:sp>
      <p:sp>
        <p:nvSpPr>
          <p:cNvPr id="43" name="Slide Number Placeholder 42"/>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4: Implementation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User Interface — Key Screens</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44752"/>
            <a:ext cx="5669280" cy="1097280"/>
          </a:xfrm>
          <a:prstGeom prst="rect">
            <a:avLst/>
          </a:prstGeom>
          <a:solidFill>
            <a:srgbClr val="F2F5F9"/>
          </a:solidFill>
          <a:ln w="635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517904"/>
            <a:ext cx="640080" cy="91440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719072"/>
            <a:ext cx="640080" cy="365760"/>
          </a:xfrm>
          <a:prstGeom prst="rect">
            <a:avLst/>
          </a:prstGeom>
          <a:noFill/>
        </p:spPr>
        <p:txBody>
          <a:bodyPr wrap="square">
            <a:spAutoFit/>
          </a:bodyPr>
          <a:lstStyle/>
          <a:p>
            <a:pPr algn="ctr"/>
            <a:r>
              <a:rPr sz="1600" b="0" i="0">
                <a:solidFill>
                  <a:srgbClr val="000000"/>
                </a:solidFill>
                <a:latin typeface="Calibri" panose="020F0502020204030204"/>
              </a:rPr>
              <a:t>📸</a:t>
            </a:r>
            <a:endParaRPr sz="1600" b="0" i="0">
              <a:solidFill>
                <a:srgbClr val="000000"/>
              </a:solidFill>
              <a:latin typeface="Calibri" panose="020F0502020204030204"/>
            </a:endParaRPr>
          </a:p>
        </p:txBody>
      </p:sp>
      <p:sp>
        <p:nvSpPr>
          <p:cNvPr id="12" name="TextBox 11"/>
          <p:cNvSpPr txBox="1"/>
          <p:nvPr/>
        </p:nvSpPr>
        <p:spPr>
          <a:xfrm>
            <a:off x="1188720" y="1517904"/>
            <a:ext cx="4754880" cy="320040"/>
          </a:xfrm>
          <a:prstGeom prst="rect">
            <a:avLst/>
          </a:prstGeom>
          <a:noFill/>
        </p:spPr>
        <p:txBody>
          <a:bodyPr wrap="square">
            <a:spAutoFit/>
          </a:bodyPr>
          <a:lstStyle/>
          <a:p>
            <a:pPr algn="l"/>
            <a:r>
              <a:rPr sz="1200" b="1" i="0">
                <a:solidFill>
                  <a:srgbClr val="00326E"/>
                </a:solidFill>
                <a:latin typeface="Calibri" panose="020F0502020204030204"/>
              </a:rPr>
              <a:t>Login / Signup Page</a:t>
            </a:r>
            <a:endParaRPr sz="1200" b="1" i="0">
              <a:solidFill>
                <a:srgbClr val="00326E"/>
              </a:solidFill>
              <a:latin typeface="Calibri" panose="020F0502020204030204"/>
            </a:endParaRPr>
          </a:p>
        </p:txBody>
      </p:sp>
      <p:sp>
        <p:nvSpPr>
          <p:cNvPr id="13" name="TextBox 12"/>
          <p:cNvSpPr txBox="1"/>
          <p:nvPr/>
        </p:nvSpPr>
        <p:spPr>
          <a:xfrm>
            <a:off x="1188720" y="1847088"/>
            <a:ext cx="4754880" cy="640080"/>
          </a:xfrm>
          <a:prstGeom prst="rect">
            <a:avLst/>
          </a:prstGeom>
          <a:noFill/>
        </p:spPr>
        <p:txBody>
          <a:bodyPr wrap="square">
            <a:spAutoFit/>
          </a:bodyPr>
          <a:lstStyle/>
          <a:p>
            <a:pPr algn="l"/>
            <a:r>
              <a:rPr sz="1050" b="0" i="0">
                <a:solidFill>
                  <a:srgbClr val="333333"/>
                </a:solidFill>
                <a:latin typeface="Calibri" panose="020F0502020204030204"/>
              </a:rPr>
              <a:t>Roll number + DOB authentication. Student selects programme &amp; batch on signup.</a:t>
            </a:r>
            <a:endParaRPr sz="1050" b="0" i="0">
              <a:solidFill>
                <a:srgbClr val="333333"/>
              </a:solidFill>
              <a:latin typeface="Calibri" panose="020F0502020204030204"/>
            </a:endParaRPr>
          </a:p>
        </p:txBody>
      </p:sp>
      <p:sp>
        <p:nvSpPr>
          <p:cNvPr id="14" name="Rectangle 13"/>
          <p:cNvSpPr/>
          <p:nvPr/>
        </p:nvSpPr>
        <p:spPr>
          <a:xfrm>
            <a:off x="6309360" y="1444752"/>
            <a:ext cx="5669280" cy="1097280"/>
          </a:xfrm>
          <a:prstGeom prst="rect">
            <a:avLst/>
          </a:prstGeom>
          <a:solidFill>
            <a:srgbClr val="F2F5F9"/>
          </a:solidFill>
          <a:ln w="635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517904"/>
            <a:ext cx="640080" cy="91440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19072"/>
            <a:ext cx="640080" cy="365760"/>
          </a:xfrm>
          <a:prstGeom prst="rect">
            <a:avLst/>
          </a:prstGeom>
          <a:noFill/>
        </p:spPr>
        <p:txBody>
          <a:bodyPr wrap="square">
            <a:spAutoFit/>
          </a:bodyPr>
          <a:lstStyle/>
          <a:p>
            <a:pPr algn="ctr"/>
            <a:r>
              <a:rPr sz="1600" b="0" i="0">
                <a:solidFill>
                  <a:srgbClr val="000000"/>
                </a:solidFill>
                <a:latin typeface="Calibri" panose="020F0502020204030204"/>
              </a:rPr>
              <a:t>📸</a:t>
            </a:r>
            <a:endParaRPr sz="1600" b="0" i="0">
              <a:solidFill>
                <a:srgbClr val="000000"/>
              </a:solidFill>
              <a:latin typeface="Calibri" panose="020F0502020204030204"/>
            </a:endParaRPr>
          </a:p>
        </p:txBody>
      </p:sp>
      <p:sp>
        <p:nvSpPr>
          <p:cNvPr id="17" name="TextBox 16"/>
          <p:cNvSpPr txBox="1"/>
          <p:nvPr/>
        </p:nvSpPr>
        <p:spPr>
          <a:xfrm>
            <a:off x="7132320" y="1517904"/>
            <a:ext cx="4754880" cy="320040"/>
          </a:xfrm>
          <a:prstGeom prst="rect">
            <a:avLst/>
          </a:prstGeom>
          <a:noFill/>
        </p:spPr>
        <p:txBody>
          <a:bodyPr wrap="square">
            <a:spAutoFit/>
          </a:bodyPr>
          <a:lstStyle/>
          <a:p>
            <a:pPr algn="l"/>
            <a:r>
              <a:rPr sz="1200" b="1" i="0">
                <a:solidFill>
                  <a:srgbClr val="00326E"/>
                </a:solidFill>
                <a:latin typeface="Calibri" panose="020F0502020204030204"/>
              </a:rPr>
              <a:t>Dashboard</a:t>
            </a:r>
            <a:endParaRPr sz="1200" b="1" i="0">
              <a:solidFill>
                <a:srgbClr val="00326E"/>
              </a:solidFill>
              <a:latin typeface="Calibri" panose="020F0502020204030204"/>
            </a:endParaRPr>
          </a:p>
        </p:txBody>
      </p:sp>
      <p:sp>
        <p:nvSpPr>
          <p:cNvPr id="18" name="TextBox 17"/>
          <p:cNvSpPr txBox="1"/>
          <p:nvPr/>
        </p:nvSpPr>
        <p:spPr>
          <a:xfrm>
            <a:off x="7132320" y="1847088"/>
            <a:ext cx="4754880" cy="640080"/>
          </a:xfrm>
          <a:prstGeom prst="rect">
            <a:avLst/>
          </a:prstGeom>
          <a:noFill/>
        </p:spPr>
        <p:txBody>
          <a:bodyPr wrap="square">
            <a:spAutoFit/>
          </a:bodyPr>
          <a:lstStyle/>
          <a:p>
            <a:pPr algn="l"/>
            <a:r>
              <a:rPr sz="1050" b="0" i="0">
                <a:solidFill>
                  <a:srgbClr val="333333"/>
                </a:solidFill>
                <a:latin typeface="Calibri" panose="020F0502020204030204"/>
              </a:rPr>
              <a:t>Grid of subject channel cards showing programme, semester, and teacher info.</a:t>
            </a:r>
            <a:endParaRPr sz="1050" b="0" i="0">
              <a:solidFill>
                <a:srgbClr val="333333"/>
              </a:solidFill>
              <a:latin typeface="Calibri" panose="020F0502020204030204"/>
            </a:endParaRPr>
          </a:p>
        </p:txBody>
      </p:sp>
      <p:sp>
        <p:nvSpPr>
          <p:cNvPr id="19" name="Rectangle 18"/>
          <p:cNvSpPr/>
          <p:nvPr/>
        </p:nvSpPr>
        <p:spPr>
          <a:xfrm>
            <a:off x="365760" y="2651760"/>
            <a:ext cx="5669280" cy="1097280"/>
          </a:xfrm>
          <a:prstGeom prst="rect">
            <a:avLst/>
          </a:prstGeom>
          <a:solidFill>
            <a:srgbClr val="F2F5F9"/>
          </a:solidFill>
          <a:ln w="635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724912"/>
            <a:ext cx="640080" cy="91440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926080"/>
            <a:ext cx="640080" cy="365760"/>
          </a:xfrm>
          <a:prstGeom prst="rect">
            <a:avLst/>
          </a:prstGeom>
          <a:noFill/>
        </p:spPr>
        <p:txBody>
          <a:bodyPr wrap="square">
            <a:spAutoFit/>
          </a:bodyPr>
          <a:lstStyle/>
          <a:p>
            <a:pPr algn="ctr"/>
            <a:r>
              <a:rPr sz="1600" b="0" i="0">
                <a:solidFill>
                  <a:srgbClr val="000000"/>
                </a:solidFill>
                <a:latin typeface="Calibri" panose="020F0502020204030204"/>
              </a:rPr>
              <a:t>📸</a:t>
            </a:r>
            <a:endParaRPr sz="1600" b="0" i="0">
              <a:solidFill>
                <a:srgbClr val="000000"/>
              </a:solidFill>
              <a:latin typeface="Calibri" panose="020F0502020204030204"/>
            </a:endParaRPr>
          </a:p>
        </p:txBody>
      </p:sp>
      <p:sp>
        <p:nvSpPr>
          <p:cNvPr id="22" name="TextBox 21"/>
          <p:cNvSpPr txBox="1"/>
          <p:nvPr/>
        </p:nvSpPr>
        <p:spPr>
          <a:xfrm>
            <a:off x="1188720" y="2724912"/>
            <a:ext cx="4754880" cy="320040"/>
          </a:xfrm>
          <a:prstGeom prst="rect">
            <a:avLst/>
          </a:prstGeom>
          <a:noFill/>
        </p:spPr>
        <p:txBody>
          <a:bodyPr wrap="square">
            <a:spAutoFit/>
          </a:bodyPr>
          <a:lstStyle/>
          <a:p>
            <a:pPr algn="l"/>
            <a:r>
              <a:rPr sz="1200" b="1" i="0">
                <a:solidFill>
                  <a:srgbClr val="00326E"/>
                </a:solidFill>
                <a:latin typeface="Calibri" panose="020F0502020204030204"/>
              </a:rPr>
              <a:t>Subject Page — Dashboard Tab</a:t>
            </a:r>
            <a:endParaRPr sz="1200" b="1" i="0">
              <a:solidFill>
                <a:srgbClr val="00326E"/>
              </a:solidFill>
              <a:latin typeface="Calibri" panose="020F0502020204030204"/>
            </a:endParaRPr>
          </a:p>
        </p:txBody>
      </p:sp>
      <p:sp>
        <p:nvSpPr>
          <p:cNvPr id="23" name="TextBox 22"/>
          <p:cNvSpPr txBox="1"/>
          <p:nvPr/>
        </p:nvSpPr>
        <p:spPr>
          <a:xfrm>
            <a:off x="1188720" y="3054096"/>
            <a:ext cx="4754880" cy="640080"/>
          </a:xfrm>
          <a:prstGeom prst="rect">
            <a:avLst/>
          </a:prstGeom>
          <a:noFill/>
        </p:spPr>
        <p:txBody>
          <a:bodyPr wrap="square">
            <a:spAutoFit/>
          </a:bodyPr>
          <a:lstStyle/>
          <a:p>
            <a:pPr algn="l"/>
            <a:r>
              <a:rPr sz="1050" b="0" i="0">
                <a:solidFill>
                  <a:srgbClr val="333333"/>
                </a:solidFill>
                <a:latin typeface="Calibri" panose="020F0502020204030204"/>
              </a:rPr>
              <a:t>Stats row (files, pending tasks, subjects) + pinned announcement + assignments list + live chat panel.</a:t>
            </a:r>
            <a:endParaRPr sz="1050" b="0" i="0">
              <a:solidFill>
                <a:srgbClr val="333333"/>
              </a:solidFill>
              <a:latin typeface="Calibri" panose="020F0502020204030204"/>
            </a:endParaRPr>
          </a:p>
        </p:txBody>
      </p:sp>
      <p:sp>
        <p:nvSpPr>
          <p:cNvPr id="24" name="Rectangle 23"/>
          <p:cNvSpPr/>
          <p:nvPr/>
        </p:nvSpPr>
        <p:spPr>
          <a:xfrm>
            <a:off x="6309360" y="2651760"/>
            <a:ext cx="5669280" cy="1097280"/>
          </a:xfrm>
          <a:prstGeom prst="rect">
            <a:avLst/>
          </a:prstGeom>
          <a:solidFill>
            <a:srgbClr val="F2F5F9"/>
          </a:solidFill>
          <a:ln w="635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2724912"/>
            <a:ext cx="640080" cy="91440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2926080"/>
            <a:ext cx="640080" cy="365760"/>
          </a:xfrm>
          <a:prstGeom prst="rect">
            <a:avLst/>
          </a:prstGeom>
          <a:noFill/>
        </p:spPr>
        <p:txBody>
          <a:bodyPr wrap="square">
            <a:spAutoFit/>
          </a:bodyPr>
          <a:lstStyle/>
          <a:p>
            <a:pPr algn="ctr"/>
            <a:r>
              <a:rPr sz="1600" b="0" i="0">
                <a:solidFill>
                  <a:srgbClr val="000000"/>
                </a:solidFill>
                <a:latin typeface="Calibri" panose="020F0502020204030204"/>
              </a:rPr>
              <a:t>📸</a:t>
            </a:r>
            <a:endParaRPr sz="1600" b="0" i="0">
              <a:solidFill>
                <a:srgbClr val="000000"/>
              </a:solidFill>
              <a:latin typeface="Calibri" panose="020F0502020204030204"/>
            </a:endParaRPr>
          </a:p>
        </p:txBody>
      </p:sp>
      <p:sp>
        <p:nvSpPr>
          <p:cNvPr id="27" name="TextBox 26"/>
          <p:cNvSpPr txBox="1"/>
          <p:nvPr/>
        </p:nvSpPr>
        <p:spPr>
          <a:xfrm>
            <a:off x="7132320" y="2724912"/>
            <a:ext cx="4754880" cy="320040"/>
          </a:xfrm>
          <a:prstGeom prst="rect">
            <a:avLst/>
          </a:prstGeom>
          <a:noFill/>
        </p:spPr>
        <p:txBody>
          <a:bodyPr wrap="square">
            <a:spAutoFit/>
          </a:bodyPr>
          <a:lstStyle/>
          <a:p>
            <a:pPr algn="l"/>
            <a:r>
              <a:rPr sz="1200" b="1" i="0">
                <a:solidFill>
                  <a:srgbClr val="00326E"/>
                </a:solidFill>
                <a:latin typeface="Calibri" panose="020F0502020204030204"/>
              </a:rPr>
              <a:t>Subject Page — Chat Tab</a:t>
            </a:r>
            <a:endParaRPr sz="1200" b="1" i="0">
              <a:solidFill>
                <a:srgbClr val="00326E"/>
              </a:solidFill>
              <a:latin typeface="Calibri" panose="020F0502020204030204"/>
            </a:endParaRPr>
          </a:p>
        </p:txBody>
      </p:sp>
      <p:sp>
        <p:nvSpPr>
          <p:cNvPr id="28" name="TextBox 27"/>
          <p:cNvSpPr txBox="1"/>
          <p:nvPr/>
        </p:nvSpPr>
        <p:spPr>
          <a:xfrm>
            <a:off x="7132320" y="3054096"/>
            <a:ext cx="4754880" cy="640080"/>
          </a:xfrm>
          <a:prstGeom prst="rect">
            <a:avLst/>
          </a:prstGeom>
          <a:noFill/>
        </p:spPr>
        <p:txBody>
          <a:bodyPr wrap="square">
            <a:spAutoFit/>
          </a:bodyPr>
          <a:lstStyle/>
          <a:p>
            <a:pPr algn="l"/>
            <a:r>
              <a:rPr sz="1050" b="0" i="0">
                <a:solidFill>
                  <a:srgbClr val="333333"/>
                </a:solidFill>
                <a:latin typeface="Calibri" panose="020F0502020204030204"/>
              </a:rPr>
              <a:t>Real-time Socket.IO chat with message bubbles, file attachments, role badges (Teacher / CR).</a:t>
            </a:r>
            <a:endParaRPr sz="1050" b="0" i="0">
              <a:solidFill>
                <a:srgbClr val="333333"/>
              </a:solidFill>
              <a:latin typeface="Calibri" panose="020F0502020204030204"/>
            </a:endParaRPr>
          </a:p>
        </p:txBody>
      </p:sp>
      <p:sp>
        <p:nvSpPr>
          <p:cNvPr id="29" name="Rectangle 28"/>
          <p:cNvSpPr/>
          <p:nvPr/>
        </p:nvSpPr>
        <p:spPr>
          <a:xfrm>
            <a:off x="365760" y="3858768"/>
            <a:ext cx="5669280" cy="1097280"/>
          </a:xfrm>
          <a:prstGeom prst="rect">
            <a:avLst/>
          </a:prstGeom>
          <a:solidFill>
            <a:srgbClr val="F2F5F9"/>
          </a:solidFill>
          <a:ln w="635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3931920"/>
            <a:ext cx="640080" cy="91440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133088"/>
            <a:ext cx="640080" cy="365760"/>
          </a:xfrm>
          <a:prstGeom prst="rect">
            <a:avLst/>
          </a:prstGeom>
          <a:noFill/>
        </p:spPr>
        <p:txBody>
          <a:bodyPr wrap="square">
            <a:spAutoFit/>
          </a:bodyPr>
          <a:lstStyle/>
          <a:p>
            <a:pPr algn="ctr"/>
            <a:r>
              <a:rPr sz="1600" b="0" i="0">
                <a:solidFill>
                  <a:srgbClr val="000000"/>
                </a:solidFill>
                <a:latin typeface="Calibri" panose="020F0502020204030204"/>
              </a:rPr>
              <a:t>📸</a:t>
            </a:r>
            <a:endParaRPr sz="1600" b="0" i="0">
              <a:solidFill>
                <a:srgbClr val="000000"/>
              </a:solidFill>
              <a:latin typeface="Calibri" panose="020F0502020204030204"/>
            </a:endParaRPr>
          </a:p>
        </p:txBody>
      </p:sp>
      <p:sp>
        <p:nvSpPr>
          <p:cNvPr id="32" name="TextBox 31"/>
          <p:cNvSpPr txBox="1"/>
          <p:nvPr/>
        </p:nvSpPr>
        <p:spPr>
          <a:xfrm>
            <a:off x="1188720" y="3931920"/>
            <a:ext cx="4754880" cy="320040"/>
          </a:xfrm>
          <a:prstGeom prst="rect">
            <a:avLst/>
          </a:prstGeom>
          <a:noFill/>
        </p:spPr>
        <p:txBody>
          <a:bodyPr wrap="square">
            <a:spAutoFit/>
          </a:bodyPr>
          <a:lstStyle/>
          <a:p>
            <a:pPr algn="l"/>
            <a:r>
              <a:rPr sz="1200" b="1" i="0">
                <a:solidFill>
                  <a:srgbClr val="00326E"/>
                </a:solidFill>
                <a:latin typeface="Calibri" panose="020F0502020204030204"/>
              </a:rPr>
              <a:t>Subject Page — Assignments Tab</a:t>
            </a:r>
            <a:endParaRPr sz="1200" b="1" i="0">
              <a:solidFill>
                <a:srgbClr val="00326E"/>
              </a:solidFill>
              <a:latin typeface="Calibri" panose="020F0502020204030204"/>
            </a:endParaRPr>
          </a:p>
        </p:txBody>
      </p:sp>
      <p:sp>
        <p:nvSpPr>
          <p:cNvPr id="33" name="TextBox 32"/>
          <p:cNvSpPr txBox="1"/>
          <p:nvPr/>
        </p:nvSpPr>
        <p:spPr>
          <a:xfrm>
            <a:off x="1188720" y="4261104"/>
            <a:ext cx="4754880" cy="640080"/>
          </a:xfrm>
          <a:prstGeom prst="rect">
            <a:avLst/>
          </a:prstGeom>
          <a:noFill/>
        </p:spPr>
        <p:txBody>
          <a:bodyPr wrap="square">
            <a:spAutoFit/>
          </a:bodyPr>
          <a:lstStyle/>
          <a:p>
            <a:pPr algn="l"/>
            <a:r>
              <a:rPr sz="1050" b="0" i="0">
                <a:solidFill>
                  <a:srgbClr val="333333"/>
                </a:solidFill>
                <a:latin typeface="Calibri" panose="020F0502020204030204"/>
              </a:rPr>
              <a:t>Assignment cards with due-date status pills (Overdue / Due Soon / Completed) + Submit Work button.</a:t>
            </a:r>
            <a:endParaRPr sz="1050" b="0" i="0">
              <a:solidFill>
                <a:srgbClr val="333333"/>
              </a:solidFill>
              <a:latin typeface="Calibri" panose="020F0502020204030204"/>
            </a:endParaRPr>
          </a:p>
        </p:txBody>
      </p:sp>
      <p:sp>
        <p:nvSpPr>
          <p:cNvPr id="34" name="Rectangle 33"/>
          <p:cNvSpPr/>
          <p:nvPr/>
        </p:nvSpPr>
        <p:spPr>
          <a:xfrm>
            <a:off x="6309360" y="3858768"/>
            <a:ext cx="5669280" cy="1097280"/>
          </a:xfrm>
          <a:prstGeom prst="rect">
            <a:avLst/>
          </a:prstGeom>
          <a:solidFill>
            <a:srgbClr val="F2F5F9"/>
          </a:solidFill>
          <a:ln w="635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3931920"/>
            <a:ext cx="640080" cy="91440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4133088"/>
            <a:ext cx="640080" cy="365760"/>
          </a:xfrm>
          <a:prstGeom prst="rect">
            <a:avLst/>
          </a:prstGeom>
          <a:noFill/>
        </p:spPr>
        <p:txBody>
          <a:bodyPr wrap="square">
            <a:spAutoFit/>
          </a:bodyPr>
          <a:lstStyle/>
          <a:p>
            <a:pPr algn="ctr"/>
            <a:r>
              <a:rPr sz="1600" b="0" i="0">
                <a:solidFill>
                  <a:srgbClr val="000000"/>
                </a:solidFill>
                <a:latin typeface="Calibri" panose="020F0502020204030204"/>
              </a:rPr>
              <a:t>📸</a:t>
            </a:r>
            <a:endParaRPr sz="1600" b="0" i="0">
              <a:solidFill>
                <a:srgbClr val="000000"/>
              </a:solidFill>
              <a:latin typeface="Calibri" panose="020F0502020204030204"/>
            </a:endParaRPr>
          </a:p>
        </p:txBody>
      </p:sp>
      <p:sp>
        <p:nvSpPr>
          <p:cNvPr id="37" name="TextBox 36"/>
          <p:cNvSpPr txBox="1"/>
          <p:nvPr/>
        </p:nvSpPr>
        <p:spPr>
          <a:xfrm>
            <a:off x="7132320" y="3931920"/>
            <a:ext cx="4754880" cy="320040"/>
          </a:xfrm>
          <a:prstGeom prst="rect">
            <a:avLst/>
          </a:prstGeom>
          <a:noFill/>
        </p:spPr>
        <p:txBody>
          <a:bodyPr wrap="square">
            <a:spAutoFit/>
          </a:bodyPr>
          <a:lstStyle/>
          <a:p>
            <a:pPr algn="l"/>
            <a:r>
              <a:rPr sz="1200" b="1" i="0">
                <a:solidFill>
                  <a:srgbClr val="00326E"/>
                </a:solidFill>
                <a:latin typeface="Calibri" panose="020F0502020204030204"/>
              </a:rPr>
              <a:t>Subject Page — Files Tab</a:t>
            </a:r>
            <a:endParaRPr sz="1200" b="1" i="0">
              <a:solidFill>
                <a:srgbClr val="00326E"/>
              </a:solidFill>
              <a:latin typeface="Calibri" panose="020F0502020204030204"/>
            </a:endParaRPr>
          </a:p>
        </p:txBody>
      </p:sp>
      <p:sp>
        <p:nvSpPr>
          <p:cNvPr id="38" name="TextBox 37"/>
          <p:cNvSpPr txBox="1"/>
          <p:nvPr/>
        </p:nvSpPr>
        <p:spPr>
          <a:xfrm>
            <a:off x="7132320" y="4261104"/>
            <a:ext cx="4754880" cy="640080"/>
          </a:xfrm>
          <a:prstGeom prst="rect">
            <a:avLst/>
          </a:prstGeom>
          <a:noFill/>
        </p:spPr>
        <p:txBody>
          <a:bodyPr wrap="square">
            <a:spAutoFit/>
          </a:bodyPr>
          <a:lstStyle/>
          <a:p>
            <a:pPr algn="l"/>
            <a:r>
              <a:rPr sz="1050" b="0" i="0">
                <a:solidFill>
                  <a:srgbClr val="333333"/>
                </a:solidFill>
                <a:latin typeface="Calibri" panose="020F0502020204030204"/>
              </a:rPr>
              <a:t>File cards with type icons, description, size, and direct download link from Cloudinary.</a:t>
            </a:r>
            <a:endParaRPr sz="1050" b="0" i="0">
              <a:solidFill>
                <a:srgbClr val="333333"/>
              </a:solidFill>
              <a:latin typeface="Calibri" panose="020F0502020204030204"/>
            </a:endParaRPr>
          </a:p>
        </p:txBody>
      </p:sp>
      <p:sp>
        <p:nvSpPr>
          <p:cNvPr id="39" name="Rectangle 38"/>
          <p:cNvSpPr/>
          <p:nvPr/>
        </p:nvSpPr>
        <p:spPr>
          <a:xfrm>
            <a:off x="365760" y="5065776"/>
            <a:ext cx="5669280" cy="1097280"/>
          </a:xfrm>
          <a:prstGeom prst="rect">
            <a:avLst/>
          </a:prstGeom>
          <a:solidFill>
            <a:srgbClr val="F2F5F9"/>
          </a:solidFill>
          <a:ln w="635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5138928"/>
            <a:ext cx="640080" cy="91440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5340096"/>
            <a:ext cx="640080" cy="365760"/>
          </a:xfrm>
          <a:prstGeom prst="rect">
            <a:avLst/>
          </a:prstGeom>
          <a:noFill/>
        </p:spPr>
        <p:txBody>
          <a:bodyPr wrap="square">
            <a:spAutoFit/>
          </a:bodyPr>
          <a:lstStyle/>
          <a:p>
            <a:pPr algn="ctr"/>
            <a:r>
              <a:rPr sz="1600" b="0" i="0">
                <a:solidFill>
                  <a:srgbClr val="000000"/>
                </a:solidFill>
                <a:latin typeface="Calibri" panose="020F0502020204030204"/>
              </a:rPr>
              <a:t>📸</a:t>
            </a:r>
            <a:endParaRPr sz="1600" b="0" i="0">
              <a:solidFill>
                <a:srgbClr val="000000"/>
              </a:solidFill>
              <a:latin typeface="Calibri" panose="020F0502020204030204"/>
            </a:endParaRPr>
          </a:p>
        </p:txBody>
      </p:sp>
      <p:sp>
        <p:nvSpPr>
          <p:cNvPr id="42" name="TextBox 41"/>
          <p:cNvSpPr txBox="1"/>
          <p:nvPr/>
        </p:nvSpPr>
        <p:spPr>
          <a:xfrm>
            <a:off x="1188720" y="5138928"/>
            <a:ext cx="4754880" cy="320040"/>
          </a:xfrm>
          <a:prstGeom prst="rect">
            <a:avLst/>
          </a:prstGeom>
          <a:noFill/>
        </p:spPr>
        <p:txBody>
          <a:bodyPr wrap="square">
            <a:spAutoFit/>
          </a:bodyPr>
          <a:lstStyle/>
          <a:p>
            <a:pPr algn="l"/>
            <a:r>
              <a:rPr sz="1200" b="1" i="0">
                <a:solidFill>
                  <a:srgbClr val="00326E"/>
                </a:solidFill>
                <a:latin typeface="Calibri" panose="020F0502020204030204"/>
              </a:rPr>
              <a:t>Notifications Page</a:t>
            </a:r>
            <a:endParaRPr sz="1200" b="1" i="0">
              <a:solidFill>
                <a:srgbClr val="00326E"/>
              </a:solidFill>
              <a:latin typeface="Calibri" panose="020F0502020204030204"/>
            </a:endParaRPr>
          </a:p>
        </p:txBody>
      </p:sp>
      <p:sp>
        <p:nvSpPr>
          <p:cNvPr id="43" name="TextBox 42"/>
          <p:cNvSpPr txBox="1"/>
          <p:nvPr/>
        </p:nvSpPr>
        <p:spPr>
          <a:xfrm>
            <a:off x="1188720" y="5468112"/>
            <a:ext cx="4754880" cy="640080"/>
          </a:xfrm>
          <a:prstGeom prst="rect">
            <a:avLst/>
          </a:prstGeom>
          <a:noFill/>
        </p:spPr>
        <p:txBody>
          <a:bodyPr wrap="square">
            <a:spAutoFit/>
          </a:bodyPr>
          <a:lstStyle/>
          <a:p>
            <a:pPr algn="l"/>
            <a:r>
              <a:rPr sz="1050" b="0" i="0">
                <a:solidFill>
                  <a:srgbClr val="333333"/>
                </a:solidFill>
                <a:latin typeface="Calibri" panose="020F0502020204030204"/>
              </a:rPr>
              <a:t>In-app notification feed grouped by type (assignment, announcement) with read/unread states.</a:t>
            </a:r>
            <a:endParaRPr sz="1050" b="0" i="0">
              <a:solidFill>
                <a:srgbClr val="333333"/>
              </a:solidFill>
              <a:latin typeface="Calibri" panose="020F0502020204030204"/>
            </a:endParaRPr>
          </a:p>
        </p:txBody>
      </p:sp>
      <p:sp>
        <p:nvSpPr>
          <p:cNvPr id="44" name="Rectangle 43"/>
          <p:cNvSpPr/>
          <p:nvPr/>
        </p:nvSpPr>
        <p:spPr>
          <a:xfrm>
            <a:off x="6309360" y="5065776"/>
            <a:ext cx="5669280" cy="1097280"/>
          </a:xfrm>
          <a:prstGeom prst="rect">
            <a:avLst/>
          </a:prstGeom>
          <a:solidFill>
            <a:srgbClr val="F2F5F9"/>
          </a:solidFill>
          <a:ln w="635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00800" y="5138928"/>
            <a:ext cx="640080" cy="91440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5340096"/>
            <a:ext cx="640080" cy="365760"/>
          </a:xfrm>
          <a:prstGeom prst="rect">
            <a:avLst/>
          </a:prstGeom>
          <a:noFill/>
        </p:spPr>
        <p:txBody>
          <a:bodyPr wrap="square">
            <a:spAutoFit/>
          </a:bodyPr>
          <a:lstStyle/>
          <a:p>
            <a:pPr algn="ctr"/>
            <a:r>
              <a:rPr sz="1600" b="0" i="0">
                <a:solidFill>
                  <a:srgbClr val="000000"/>
                </a:solidFill>
                <a:latin typeface="Calibri" panose="020F0502020204030204"/>
              </a:rPr>
              <a:t>📸</a:t>
            </a:r>
            <a:endParaRPr sz="1600" b="0" i="0">
              <a:solidFill>
                <a:srgbClr val="000000"/>
              </a:solidFill>
              <a:latin typeface="Calibri" panose="020F0502020204030204"/>
            </a:endParaRPr>
          </a:p>
        </p:txBody>
      </p:sp>
      <p:sp>
        <p:nvSpPr>
          <p:cNvPr id="47" name="TextBox 46"/>
          <p:cNvSpPr txBox="1"/>
          <p:nvPr/>
        </p:nvSpPr>
        <p:spPr>
          <a:xfrm>
            <a:off x="7132320" y="5138928"/>
            <a:ext cx="4754880" cy="320040"/>
          </a:xfrm>
          <a:prstGeom prst="rect">
            <a:avLst/>
          </a:prstGeom>
          <a:noFill/>
        </p:spPr>
        <p:txBody>
          <a:bodyPr wrap="square">
            <a:spAutoFit/>
          </a:bodyPr>
          <a:lstStyle/>
          <a:p>
            <a:pPr algn="l"/>
            <a:r>
              <a:rPr sz="1200" b="1" i="0">
                <a:solidFill>
                  <a:srgbClr val="00326E"/>
                </a:solidFill>
                <a:latin typeface="Calibri" panose="020F0502020204030204"/>
              </a:rPr>
              <a:t>Calendar Page</a:t>
            </a:r>
            <a:endParaRPr sz="1200" b="1" i="0">
              <a:solidFill>
                <a:srgbClr val="00326E"/>
              </a:solidFill>
              <a:latin typeface="Calibri" panose="020F0502020204030204"/>
            </a:endParaRPr>
          </a:p>
        </p:txBody>
      </p:sp>
      <p:sp>
        <p:nvSpPr>
          <p:cNvPr id="48" name="TextBox 47"/>
          <p:cNvSpPr txBox="1"/>
          <p:nvPr/>
        </p:nvSpPr>
        <p:spPr>
          <a:xfrm>
            <a:off x="7132320" y="5468112"/>
            <a:ext cx="4754880" cy="640080"/>
          </a:xfrm>
          <a:prstGeom prst="rect">
            <a:avLst/>
          </a:prstGeom>
          <a:noFill/>
        </p:spPr>
        <p:txBody>
          <a:bodyPr wrap="square">
            <a:spAutoFit/>
          </a:bodyPr>
          <a:lstStyle/>
          <a:p>
            <a:pPr algn="l"/>
            <a:r>
              <a:rPr sz="1050" b="0" i="0">
                <a:solidFill>
                  <a:srgbClr val="333333"/>
                </a:solidFill>
                <a:latin typeface="Calibri" panose="020F0502020204030204"/>
              </a:rPr>
              <a:t>Month view of all assignment deadlines across enrolled subjects with event indicators.</a:t>
            </a:r>
            <a:endParaRPr sz="1050" b="0" i="0">
              <a:solidFill>
                <a:srgbClr val="333333"/>
              </a:solidFill>
              <a:latin typeface="Calibri" panose="020F0502020204030204"/>
            </a:endParaRPr>
          </a:p>
        </p:txBody>
      </p:sp>
      <p:sp>
        <p:nvSpPr>
          <p:cNvPr id="50" name="Slide Number Placeholder 49"/>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4: Implementation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Development Methodology</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1064240" cy="4937760"/>
          </a:xfrm>
          <a:prstGeom prst="rect">
            <a:avLst/>
          </a:prstGeom>
          <a:noFill/>
        </p:spPr>
        <p:txBody>
          <a:bodyPr wrap="square">
            <a:spAutoFit/>
          </a:bodyPr>
          <a:lstStyle/>
          <a:p>
            <a:pPr algn="l">
              <a:spcBef>
                <a:spcPts val="600"/>
              </a:spcBef>
            </a:pPr>
            <a:r>
              <a:rPr sz="1300">
                <a:solidFill>
                  <a:srgbClr val="333333"/>
                </a:solidFill>
                <a:latin typeface="Calibri" panose="020F0502020204030204"/>
              </a:rPr>
              <a:t>•  Approach: Agile (Iterative &amp; Incremental)</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Development was divided into iterative phases with continuous review and refinement.</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Features were built, tested, and integrated module by module rather than all at once.</a:t>
            </a:r>
            <a:endParaRPr sz="1150">
              <a:solidFill>
                <a:srgbClr val="333333"/>
              </a:solidFill>
              <a:latin typeface="Calibri" panose="020F0502020204030204"/>
            </a:endParaRPr>
          </a:p>
          <a:p>
            <a:pPr algn="l">
              <a:spcBef>
                <a:spcPts val="600"/>
              </a:spcBef>
            </a:pPr>
            <a:r>
              <a:rPr sz="1300">
                <a:solidFill>
                  <a:srgbClr val="333333"/>
                </a:solidFill>
                <a:latin typeface="Calibri" panose="020F0502020204030204"/>
              </a:rPr>
              <a:t>•  Phase 1 — Foundation</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Database schema design (PostgreSQL / Supabase)</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Authentication system: JWT-based login, role assignment, and roll-number verification</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Core Express.js server setup with CORS and middleware pipeline</a:t>
            </a:r>
            <a:endParaRPr sz="1150">
              <a:solidFill>
                <a:srgbClr val="333333"/>
              </a:solidFill>
              <a:latin typeface="Calibri" panose="020F0502020204030204"/>
            </a:endParaRPr>
          </a:p>
          <a:p>
            <a:pPr algn="l">
              <a:spcBef>
                <a:spcPts val="600"/>
              </a:spcBef>
            </a:pPr>
            <a:r>
              <a:rPr sz="1300">
                <a:solidFill>
                  <a:srgbClr val="333333"/>
                </a:solidFill>
                <a:latin typeface="Calibri" panose="020F0502020204030204"/>
              </a:rPr>
              <a:t>•  Phase 2 — Core Features</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Subject channel system with auto-enrolment logic</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Real-time chat via Socket.IO (messages, typing indicators, file attachments)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Assignment creation, submission (Cloudinary upload), and grading workflow</a:t>
            </a:r>
            <a:endParaRPr sz="1150">
              <a:solidFill>
                <a:srgbClr val="333333"/>
              </a:solidFill>
              <a:latin typeface="Calibri" panose="020F0502020204030204"/>
            </a:endParaRPr>
          </a:p>
          <a:p>
            <a:pPr algn="l">
              <a:spcBef>
                <a:spcPts val="600"/>
              </a:spcBef>
            </a:pPr>
            <a:r>
              <a:rPr sz="1300">
                <a:solidFill>
                  <a:srgbClr val="333333"/>
                </a:solidFill>
                <a:latin typeface="Calibri" panose="020F0502020204030204"/>
              </a:rPr>
              <a:t>•  Phase 3 — Enrichment &amp; Deployment</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Notes repository, file manager, announcement system, in-app notifications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Calendar view and global All Files page</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Production deployment: Vercel (frontend) + Render (backend) + Supabase (DB)</a:t>
            </a:r>
            <a:endParaRPr sz="1150">
              <a:solidFill>
                <a:srgbClr val="333333"/>
              </a:solidFill>
              <a:latin typeface="Calibri" panose="020F0502020204030204"/>
            </a:endParaRPr>
          </a:p>
        </p:txBody>
      </p:sp>
      <p:sp>
        <p:nvSpPr>
          <p:cNvPr id="11" name="Slide Number Placeholder 10"/>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5: Results &amp; Discussion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Results &amp; System Output</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1064240" cy="4937760"/>
          </a:xfrm>
          <a:prstGeom prst="rect">
            <a:avLst/>
          </a:prstGeom>
          <a:noFill/>
        </p:spPr>
        <p:txBody>
          <a:bodyPr wrap="square">
            <a:spAutoFit/>
          </a:bodyPr>
          <a:lstStyle/>
          <a:p>
            <a:pPr algn="l">
              <a:spcBef>
                <a:spcPts val="600"/>
              </a:spcBef>
            </a:pPr>
            <a:r>
              <a:rPr sz="1300">
                <a:solidFill>
                  <a:srgbClr val="333333"/>
                </a:solidFill>
                <a:latin typeface="Calibri" panose="020F0502020204030204"/>
              </a:rPr>
              <a:t>•  Successfully Implemented Features</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Real-time subject-channel chat with file attachments fully functional via Socket.IO</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Complete assignment lifecycle: create → submit → grade → notification</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Role-based access: Students, Class Representatives, Faculty, Admin — all distinct</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Cloudinary file storage operational for messages, assignments, and notes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In-app notification system with real-time delivery and read/unread states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Calendar page aggregating all assignment deadlines across enrolled subjects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Production deployment live on Vercel + Render with Supabase PostgreSQL</a:t>
            </a:r>
            <a:endParaRPr sz="1150">
              <a:solidFill>
                <a:srgbClr val="333333"/>
              </a:solidFill>
              <a:latin typeface="Calibri" panose="020F0502020204030204"/>
            </a:endParaRPr>
          </a:p>
          <a:p>
            <a:pPr algn="l">
              <a:spcBef>
                <a:spcPts val="600"/>
              </a:spcBef>
            </a:pPr>
            <a:r>
              <a:rPr sz="1300">
                <a:solidFill>
                  <a:srgbClr val="333333"/>
                </a:solidFill>
                <a:latin typeface="Calibri" panose="020F0502020204030204"/>
              </a:rPr>
              <a:t>•  Backend API Coverage</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10 route modules: auth, channels, messages, files, assignments, submissions,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announcements, notifications, notes, enrollments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Health endpoint verified: /api/health returns 200 with status message</a:t>
            </a:r>
            <a:endParaRPr sz="1150">
              <a:solidFill>
                <a:srgbClr val="333333"/>
              </a:solidFill>
              <a:latin typeface="Calibri" panose="020F0502020204030204"/>
            </a:endParaRPr>
          </a:p>
          <a:p>
            <a:pPr algn="l">
              <a:spcBef>
                <a:spcPts val="600"/>
              </a:spcBef>
            </a:pPr>
            <a:r>
              <a:rPr sz="1300">
                <a:solidFill>
                  <a:srgbClr val="333333"/>
                </a:solidFill>
                <a:latin typeface="Calibri" panose="020F0502020204030204"/>
              </a:rPr>
              <a:t>•  Data Integrity</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13 PostgreSQL tables with FK constraints, CASCADE deletes, and UNIQUE constraints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Performance indexes on all high-query columns (messages, enrollments, files)</a:t>
            </a:r>
            <a:endParaRPr sz="1150">
              <a:solidFill>
                <a:srgbClr val="333333"/>
              </a:solidFill>
              <a:latin typeface="Calibri" panose="020F0502020204030204"/>
            </a:endParaRPr>
          </a:p>
        </p:txBody>
      </p:sp>
      <p:sp>
        <p:nvSpPr>
          <p:cNvPr id="11" name="Slide Number Placeholder 10"/>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5: Results &amp; Discussion</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Challenges Faced</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1064240" cy="4937760"/>
          </a:xfrm>
          <a:prstGeom prst="rect">
            <a:avLst/>
          </a:prstGeom>
          <a:noFill/>
        </p:spPr>
        <p:txBody>
          <a:bodyPr wrap="square">
            <a:spAutoFit/>
          </a:bodyPr>
          <a:lstStyle/>
          <a:p>
            <a:pPr algn="l">
              <a:spcBef>
                <a:spcPts val="600"/>
              </a:spcBef>
            </a:pPr>
            <a:r>
              <a:rPr sz="1200">
                <a:solidFill>
                  <a:srgbClr val="333333"/>
                </a:solidFill>
                <a:latin typeface="Calibri" panose="020F0502020204030204"/>
              </a:rPr>
              <a:t>•  Real-Time Socket.IO Integration</a:t>
            </a:r>
            <a:endParaRPr sz="1200">
              <a:solidFill>
                <a:srgbClr val="333333"/>
              </a:solidFill>
              <a:latin typeface="Calibri" panose="020F0502020204030204"/>
            </a:endParaRPr>
          </a:p>
          <a:p>
            <a:pPr algn="l">
              <a:spcBef>
                <a:spcPts val="200"/>
              </a:spcBef>
            </a:pPr>
            <a:r>
              <a:rPr sz="1050">
                <a:solidFill>
                  <a:srgbClr val="333333"/>
                </a:solidFill>
                <a:latin typeface="Calibri" panose="020F0502020204030204"/>
              </a:rPr>
              <a:t>      ‒  Synchronising Socket.IO events with REST API state without duplicate messages</a:t>
            </a:r>
            <a:endParaRPr sz="1050">
              <a:solidFill>
                <a:srgbClr val="333333"/>
              </a:solidFill>
              <a:latin typeface="Calibri" panose="020F0502020204030204"/>
            </a:endParaRPr>
          </a:p>
          <a:p>
            <a:pPr algn="l">
              <a:spcBef>
                <a:spcPts val="200"/>
              </a:spcBef>
            </a:pPr>
            <a:r>
              <a:rPr sz="1050">
                <a:solidFill>
                  <a:srgbClr val="333333"/>
                </a:solidFill>
                <a:latin typeface="Calibri" panose="020F0502020204030204"/>
              </a:rPr>
              <a:t>      ‒  Handling socket room management (channel:join / channel:leave) across React re-renders</a:t>
            </a:r>
            <a:endParaRPr sz="1050">
              <a:solidFill>
                <a:srgbClr val="333333"/>
              </a:solidFill>
              <a:latin typeface="Calibri" panose="020F0502020204030204"/>
            </a:endParaRPr>
          </a:p>
          <a:p>
            <a:pPr algn="l">
              <a:spcBef>
                <a:spcPts val="200"/>
              </a:spcBef>
            </a:pPr>
            <a:r>
              <a:rPr sz="1050">
                <a:solidFill>
                  <a:srgbClr val="333333"/>
                </a:solidFill>
                <a:latin typeface="Calibri" panose="020F0502020204030204"/>
              </a:rPr>
              <a:t>      ‒  Solution: Used useRef to persist socket instance across renders; cleaned up on unmount</a:t>
            </a:r>
            <a:endParaRPr sz="1050">
              <a:solidFill>
                <a:srgbClr val="333333"/>
              </a:solidFill>
              <a:latin typeface="Calibri" panose="020F0502020204030204"/>
            </a:endParaRPr>
          </a:p>
          <a:p>
            <a:pPr algn="l">
              <a:spcBef>
                <a:spcPts val="600"/>
              </a:spcBef>
            </a:pPr>
            <a:r>
              <a:rPr sz="1200">
                <a:solidFill>
                  <a:srgbClr val="333333"/>
                </a:solidFill>
                <a:latin typeface="Calibri" panose="020F0502020204030204"/>
              </a:rPr>
              <a:t>•  Database Schema Design</a:t>
            </a:r>
            <a:endParaRPr sz="1200">
              <a:solidFill>
                <a:srgbClr val="333333"/>
              </a:solidFill>
              <a:latin typeface="Calibri" panose="020F0502020204030204"/>
            </a:endParaRPr>
          </a:p>
          <a:p>
            <a:pPr algn="l">
              <a:spcBef>
                <a:spcPts val="200"/>
              </a:spcBef>
            </a:pPr>
            <a:r>
              <a:rPr sz="1050">
                <a:solidFill>
                  <a:srgbClr val="333333"/>
                </a:solidFill>
                <a:latin typeface="Calibri" panose="020F0502020204030204"/>
              </a:rPr>
              <a:t>      ‒  Modelling the Faculty → Programme → Batch → Channel hierarchy correctly</a:t>
            </a:r>
            <a:endParaRPr sz="1050">
              <a:solidFill>
                <a:srgbClr val="333333"/>
              </a:solidFill>
              <a:latin typeface="Calibri" panose="020F0502020204030204"/>
            </a:endParaRPr>
          </a:p>
          <a:p>
            <a:pPr algn="l">
              <a:spcBef>
                <a:spcPts val="200"/>
              </a:spcBef>
            </a:pPr>
            <a:r>
              <a:rPr sz="1050">
                <a:solidFill>
                  <a:srgbClr val="333333"/>
                </a:solidFill>
                <a:latin typeface="Calibri" panose="020F0502020204030204"/>
              </a:rPr>
              <a:t>      ‒  Ensuring auto-enrolment logic correctly maps students to channels without duplication</a:t>
            </a:r>
            <a:endParaRPr sz="1050">
              <a:solidFill>
                <a:srgbClr val="333333"/>
              </a:solidFill>
              <a:latin typeface="Calibri" panose="020F0502020204030204"/>
            </a:endParaRPr>
          </a:p>
          <a:p>
            <a:pPr algn="l">
              <a:spcBef>
                <a:spcPts val="200"/>
              </a:spcBef>
            </a:pPr>
            <a:r>
              <a:rPr sz="1050">
                <a:solidFill>
                  <a:srgbClr val="333333"/>
                </a:solidFill>
                <a:latin typeface="Calibri" panose="020F0502020204030204"/>
              </a:rPr>
              <a:t>      ‒  Solution: UNIQUE(user_id, channel_id) constraint in enrollments table</a:t>
            </a:r>
            <a:endParaRPr sz="1050">
              <a:solidFill>
                <a:srgbClr val="333333"/>
              </a:solidFill>
              <a:latin typeface="Calibri" panose="020F0502020204030204"/>
            </a:endParaRPr>
          </a:p>
          <a:p>
            <a:pPr algn="l">
              <a:spcBef>
                <a:spcPts val="600"/>
              </a:spcBef>
            </a:pPr>
            <a:r>
              <a:rPr sz="1200">
                <a:solidFill>
                  <a:srgbClr val="333333"/>
                </a:solidFill>
                <a:latin typeface="Calibri" panose="020F0502020204030204"/>
              </a:rPr>
              <a:t>•  File Upload with Cloudinary</a:t>
            </a:r>
            <a:endParaRPr sz="1200">
              <a:solidFill>
                <a:srgbClr val="333333"/>
              </a:solidFill>
              <a:latin typeface="Calibri" panose="020F0502020204030204"/>
            </a:endParaRPr>
          </a:p>
          <a:p>
            <a:pPr algn="l">
              <a:spcBef>
                <a:spcPts val="200"/>
              </a:spcBef>
            </a:pPr>
            <a:r>
              <a:rPr sz="1050">
                <a:solidFill>
                  <a:srgbClr val="333333"/>
                </a:solidFill>
                <a:latin typeface="Calibri" panose="020F0502020204030204"/>
              </a:rPr>
              <a:t>      ‒  Configuring Multer + multer-storage-cloudinary pipeline in a streaming manner</a:t>
            </a:r>
            <a:endParaRPr sz="1050">
              <a:solidFill>
                <a:srgbClr val="333333"/>
              </a:solidFill>
              <a:latin typeface="Calibri" panose="020F0502020204030204"/>
            </a:endParaRPr>
          </a:p>
          <a:p>
            <a:pPr algn="l">
              <a:spcBef>
                <a:spcPts val="200"/>
              </a:spcBef>
            </a:pPr>
            <a:r>
              <a:rPr sz="1050">
                <a:solidFill>
                  <a:srgbClr val="333333"/>
                </a:solidFill>
                <a:latin typeface="Calibri" panose="020F0502020204030204"/>
              </a:rPr>
              <a:t>      ‒  Handling large files and CORS issues between Render (backend) and Vercel (frontend)</a:t>
            </a:r>
            <a:endParaRPr sz="1050">
              <a:solidFill>
                <a:srgbClr val="333333"/>
              </a:solidFill>
              <a:latin typeface="Calibri" panose="020F0502020204030204"/>
            </a:endParaRPr>
          </a:p>
          <a:p>
            <a:pPr algn="l">
              <a:spcBef>
                <a:spcPts val="200"/>
              </a:spcBef>
            </a:pPr>
            <a:r>
              <a:rPr sz="1050">
                <a:solidFill>
                  <a:srgbClr val="333333"/>
                </a:solidFill>
                <a:latin typeface="Calibri" panose="020F0502020204030204"/>
              </a:rPr>
              <a:t>      ‒  Solution: Configured explicit CORS with regex for Vercel preview URLs</a:t>
            </a:r>
            <a:endParaRPr sz="1050">
              <a:solidFill>
                <a:srgbClr val="333333"/>
              </a:solidFill>
              <a:latin typeface="Calibri" panose="020F0502020204030204"/>
            </a:endParaRPr>
          </a:p>
          <a:p>
            <a:pPr algn="l">
              <a:spcBef>
                <a:spcPts val="600"/>
              </a:spcBef>
            </a:pPr>
            <a:r>
              <a:rPr sz="1200">
                <a:solidFill>
                  <a:srgbClr val="333333"/>
                </a:solidFill>
                <a:latin typeface="Calibri" panose="020F0502020204030204"/>
              </a:rPr>
              <a:t>•  JWT Authentication Across Roles</a:t>
            </a:r>
            <a:endParaRPr sz="1200">
              <a:solidFill>
                <a:srgbClr val="333333"/>
              </a:solidFill>
              <a:latin typeface="Calibri" panose="020F0502020204030204"/>
            </a:endParaRPr>
          </a:p>
          <a:p>
            <a:pPr algn="l">
              <a:spcBef>
                <a:spcPts val="200"/>
              </a:spcBef>
            </a:pPr>
            <a:r>
              <a:rPr sz="1050">
                <a:solidFill>
                  <a:srgbClr val="333333"/>
                </a:solidFill>
                <a:latin typeface="Calibri" panose="020F0502020204030204"/>
              </a:rPr>
              <a:t>      ‒  Ensuring role-based middleware correctly restricts endpoints per user role</a:t>
            </a:r>
            <a:endParaRPr sz="1050">
              <a:solidFill>
                <a:srgbClr val="333333"/>
              </a:solidFill>
              <a:latin typeface="Calibri" panose="020F0502020204030204"/>
            </a:endParaRPr>
          </a:p>
          <a:p>
            <a:pPr algn="l">
              <a:spcBef>
                <a:spcPts val="200"/>
              </a:spcBef>
            </a:pPr>
            <a:r>
              <a:rPr sz="1050">
                <a:solidFill>
                  <a:srgbClr val="333333"/>
                </a:solidFill>
                <a:latin typeface="Calibri" panose="020F0502020204030204"/>
              </a:rPr>
              <a:t>      ‒  Managing token refresh and expiry without breaking user session</a:t>
            </a:r>
            <a:endParaRPr sz="1050">
              <a:solidFill>
                <a:srgbClr val="333333"/>
              </a:solidFill>
              <a:latin typeface="Calibri" panose="020F0502020204030204"/>
            </a:endParaRPr>
          </a:p>
          <a:p>
            <a:pPr algn="l">
              <a:spcBef>
                <a:spcPts val="200"/>
              </a:spcBef>
            </a:pPr>
            <a:r>
              <a:rPr sz="1050">
                <a:solidFill>
                  <a:srgbClr val="333333"/>
                </a:solidFill>
                <a:latin typeface="Calibri" panose="020F0502020204030204"/>
              </a:rPr>
              <a:t>      ‒  Solution: Decoded token in auth middleware and attached user object to req</a:t>
            </a:r>
            <a:endParaRPr sz="1050">
              <a:solidFill>
                <a:srgbClr val="333333"/>
              </a:solidFill>
              <a:latin typeface="Calibri" panose="020F0502020204030204"/>
            </a:endParaRPr>
          </a:p>
          <a:p>
            <a:pPr algn="l">
              <a:spcBef>
                <a:spcPts val="600"/>
              </a:spcBef>
            </a:pPr>
            <a:r>
              <a:rPr sz="1200">
                <a:solidFill>
                  <a:srgbClr val="333333"/>
                </a:solidFill>
                <a:latin typeface="Calibri" panose="020F0502020204030204"/>
              </a:rPr>
              <a:t>•  Deployment Configuration</a:t>
            </a:r>
            <a:endParaRPr sz="1200">
              <a:solidFill>
                <a:srgbClr val="333333"/>
              </a:solidFill>
              <a:latin typeface="Calibri" panose="020F0502020204030204"/>
            </a:endParaRPr>
          </a:p>
          <a:p>
            <a:pPr algn="l">
              <a:spcBef>
                <a:spcPts val="200"/>
              </a:spcBef>
            </a:pPr>
            <a:r>
              <a:rPr sz="1050">
                <a:solidFill>
                  <a:srgbClr val="333333"/>
                </a:solidFill>
                <a:latin typeface="Calibri" panose="020F0502020204030204"/>
              </a:rPr>
              <a:t>      ‒  Supabase transaction pooler credentials differing from session pooler</a:t>
            </a:r>
            <a:endParaRPr sz="1050">
              <a:solidFill>
                <a:srgbClr val="333333"/>
              </a:solidFill>
              <a:latin typeface="Calibri" panose="020F0502020204030204"/>
            </a:endParaRPr>
          </a:p>
          <a:p>
            <a:pPr algn="l">
              <a:spcBef>
                <a:spcPts val="200"/>
              </a:spcBef>
            </a:pPr>
            <a:r>
              <a:rPr sz="1050">
                <a:solidFill>
                  <a:srgbClr val="333333"/>
                </a:solidFill>
                <a:latin typeface="Calibri" panose="020F0502020204030204"/>
              </a:rPr>
              <a:t>      ‒  Environment variable management across local dev, Render, and Vercel</a:t>
            </a:r>
            <a:endParaRPr sz="1050">
              <a:solidFill>
                <a:srgbClr val="333333"/>
              </a:solidFill>
              <a:latin typeface="Calibri" panose="020F0502020204030204"/>
            </a:endParaRPr>
          </a:p>
          <a:p>
            <a:pPr algn="l">
              <a:spcBef>
                <a:spcPts val="200"/>
              </a:spcBef>
            </a:pPr>
            <a:r>
              <a:rPr sz="1050">
                <a:solidFill>
                  <a:srgbClr val="333333"/>
                </a:solidFill>
                <a:latin typeface="Calibri" panose="020F0502020204030204"/>
              </a:rPr>
              <a:t>      ‒  Solution: Used .env.example template and platform-specific env variable dashboards</a:t>
            </a:r>
            <a:endParaRPr sz="1050">
              <a:solidFill>
                <a:srgbClr val="333333"/>
              </a:solidFill>
              <a:latin typeface="Calibri" panose="020F0502020204030204"/>
            </a:endParaRPr>
          </a:p>
        </p:txBody>
      </p:sp>
      <p:sp>
        <p:nvSpPr>
          <p:cNvPr id="11" name="Slide Number Placeholder 10"/>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6: Conclusion &amp; Future Scope</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Conclusion</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1064240" cy="4937760"/>
          </a:xfrm>
          <a:prstGeom prst="rect">
            <a:avLst/>
          </a:prstGeom>
          <a:noFill/>
        </p:spPr>
        <p:txBody>
          <a:bodyPr wrap="square">
            <a:spAutoFit/>
          </a:bodyPr>
          <a:lstStyle/>
          <a:p>
            <a:pPr algn="l">
              <a:spcBef>
                <a:spcPts val="600"/>
              </a:spcBef>
            </a:pPr>
            <a:r>
              <a:rPr sz="1350">
                <a:solidFill>
                  <a:srgbClr val="333333"/>
                </a:solidFill>
                <a:latin typeface="Calibri" panose="020F0502020204030204"/>
              </a:rPr>
              <a:t>•  The project successfully delivers a fully functional, cloud-deployed academic collaboration platform tailored for AdtU students and faculty.</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It addresses the core problem of scattered, unstructured academic communication by providing dedicated subject channels with structured workflows.</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Key achievements: real-time messaging, role-based access control, cloud file storage, assignment lifecycle management, and in-app notifications — all production-ready.</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The system is built on a modern, industry-standard technology stack (React, Node.js, PostgreSQL, Socket.IO, Cloudinary) ensuring maintainability and scalability.</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The platform has the potential to replace informal tools (WhatsApp groups, email chains) as the primary academic communication medium at Assam down town University.</a:t>
            </a:r>
            <a:endParaRPr sz="1350">
              <a:solidFill>
                <a:srgbClr val="333333"/>
              </a:solidFill>
              <a:latin typeface="Calibri" panose="020F0502020204030204"/>
            </a:endParaRPr>
          </a:p>
          <a:p>
            <a:pPr algn="l">
              <a:spcBef>
                <a:spcPts val="600"/>
              </a:spcBef>
            </a:pPr>
            <a:r>
              <a:rPr sz="1350">
                <a:solidFill>
                  <a:srgbClr val="333333"/>
                </a:solidFill>
                <a:latin typeface="Calibri" panose="020F0502020204030204"/>
              </a:rPr>
              <a:t>•  The project demonstrates the practical application of full-stack web development, cloud deployment, real-time systems, and database design concepts learned during BSc-IT (MAIS).</a:t>
            </a:r>
            <a:endParaRPr sz="1350">
              <a:solidFill>
                <a:srgbClr val="333333"/>
              </a:solidFill>
              <a:latin typeface="Calibri" panose="020F0502020204030204"/>
            </a:endParaRPr>
          </a:p>
        </p:txBody>
      </p:sp>
      <p:sp>
        <p:nvSpPr>
          <p:cNvPr id="11" name="Slide Number Placeholder 10"/>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TextBox 3"/>
          <p:cNvSpPr txBox="1"/>
          <p:nvPr/>
        </p:nvSpPr>
        <p:spPr>
          <a:xfrm>
            <a:off x="8229600" y="64008"/>
            <a:ext cx="3749039" cy="365760"/>
          </a:xfrm>
          <a:prstGeom prst="rect">
            <a:avLst/>
          </a:prstGeom>
          <a:noFill/>
        </p:spPr>
        <p:txBody>
          <a:bodyPr wrap="square">
            <a:spAutoFit/>
          </a:bodyPr>
          <a:lstStyle/>
          <a:p>
            <a:pPr algn="r"/>
            <a:r>
              <a:rPr sz="900" b="0" i="0">
                <a:solidFill>
                  <a:srgbClr val="D6E8F7"/>
                </a:solidFill>
                <a:latin typeface="Calibri" panose="020F0502020204030204"/>
              </a:rPr>
              <a:t>Chapter 6: Conclusion &amp; Future Scope</a:t>
            </a:r>
            <a:endParaRPr sz="900" b="0" i="0">
              <a:solidFill>
                <a:srgbClr val="D6E8F7"/>
              </a:solidFill>
              <a:latin typeface="Calibri" panose="020F0502020204030204"/>
            </a:endParaRPr>
          </a:p>
        </p:txBody>
      </p:sp>
      <p:sp>
        <p:nvSpPr>
          <p:cNvPr id="5" name="Rectangle 4"/>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Future Scope</a:t>
            </a:r>
            <a:endParaRPr sz="2200" b="1" i="0">
              <a:solidFill>
                <a:srgbClr val="00326E"/>
              </a:solidFill>
              <a:latin typeface="Calibri" panose="020F0502020204030204"/>
            </a:endParaRPr>
          </a:p>
        </p:txBody>
      </p:sp>
      <p:sp>
        <p:nvSpPr>
          <p:cNvPr id="8" name="Rectangle 7"/>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1064240" cy="4937760"/>
          </a:xfrm>
          <a:prstGeom prst="rect">
            <a:avLst/>
          </a:prstGeom>
          <a:noFill/>
        </p:spPr>
        <p:txBody>
          <a:bodyPr wrap="square">
            <a:spAutoFit/>
          </a:bodyPr>
          <a:lstStyle/>
          <a:p>
            <a:pPr algn="l">
              <a:spcBef>
                <a:spcPts val="600"/>
              </a:spcBef>
            </a:pPr>
            <a:r>
              <a:rPr sz="1300">
                <a:solidFill>
                  <a:srgbClr val="333333"/>
                </a:solidFill>
                <a:latin typeface="Calibri" panose="020F0502020204030204"/>
              </a:rPr>
              <a:t>•  Short-Term Enhancements</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Mobile application (React Native) for iOS and Android with push notifications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Rich-text message editor (markdown support) in the chat interface</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Advanced assignment grading with rubric-based scoring and batch feedback</a:t>
            </a:r>
            <a:endParaRPr sz="1150">
              <a:solidFill>
                <a:srgbClr val="333333"/>
              </a:solidFill>
              <a:latin typeface="Calibri" panose="020F0502020204030204"/>
            </a:endParaRPr>
          </a:p>
          <a:p>
            <a:pPr algn="l">
              <a:spcBef>
                <a:spcPts val="600"/>
              </a:spcBef>
            </a:pPr>
            <a:r>
              <a:rPr sz="1300">
                <a:solidFill>
                  <a:srgbClr val="333333"/>
                </a:solidFill>
                <a:latin typeface="Calibri" panose="020F0502020204030204"/>
              </a:rPr>
              <a:t>•  Medium-Term Expansions</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AI-powered smart search across all notes, files, and messages using embeddings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Automated attendance tracking integrated with subject channels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Faculty analytics dashboard — submission rates, active students, engagement metrics</a:t>
            </a:r>
            <a:endParaRPr sz="1150">
              <a:solidFill>
                <a:srgbClr val="333333"/>
              </a:solidFill>
              <a:latin typeface="Calibri" panose="020F0502020204030204"/>
            </a:endParaRPr>
          </a:p>
          <a:p>
            <a:pPr algn="l">
              <a:spcBef>
                <a:spcPts val="600"/>
              </a:spcBef>
            </a:pPr>
            <a:r>
              <a:rPr sz="1300">
                <a:solidFill>
                  <a:srgbClr val="333333"/>
                </a:solidFill>
                <a:latin typeface="Calibri" panose="020F0502020204030204"/>
              </a:rPr>
              <a:t>•  Long-Term Vision</a:t>
            </a:r>
            <a:endParaRPr sz="1300">
              <a:solidFill>
                <a:srgbClr val="333333"/>
              </a:solidFill>
              <a:latin typeface="Calibri" panose="020F0502020204030204"/>
            </a:endParaRPr>
          </a:p>
          <a:p>
            <a:pPr algn="l">
              <a:spcBef>
                <a:spcPts val="200"/>
              </a:spcBef>
            </a:pPr>
            <a:r>
              <a:rPr sz="1150">
                <a:solidFill>
                  <a:srgbClr val="333333"/>
                </a:solidFill>
                <a:latin typeface="Calibri" panose="020F0502020204030204"/>
              </a:rPr>
              <a:t>      ‒  University-wide adoption — multi-campus, multi-department scaling</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Integration with AdtU's official ERP/SIS (Student Information System)</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Video lecture integration (Zoom/Google Meet embed) within subject channels</a:t>
            </a:r>
            <a:endParaRPr sz="1150">
              <a:solidFill>
                <a:srgbClr val="333333"/>
              </a:solidFill>
              <a:latin typeface="Calibri" panose="020F0502020204030204"/>
            </a:endParaRPr>
          </a:p>
          <a:p>
            <a:pPr algn="l">
              <a:spcBef>
                <a:spcPts val="200"/>
              </a:spcBef>
            </a:pPr>
            <a:r>
              <a:rPr sz="1150">
                <a:solidFill>
                  <a:srgbClr val="333333"/>
                </a:solidFill>
                <a:latin typeface="Calibri" panose="020F0502020204030204"/>
              </a:rPr>
              <a:t>      ‒  Peer-to-peer collaborative note editing (Google Docs-style real-time editing)</a:t>
            </a:r>
            <a:endParaRPr sz="1150">
              <a:solidFill>
                <a:srgbClr val="333333"/>
              </a:solidFill>
              <a:latin typeface="Calibri" panose="020F0502020204030204"/>
            </a:endParaRPr>
          </a:p>
        </p:txBody>
      </p:sp>
      <p:sp>
        <p:nvSpPr>
          <p:cNvPr id="11" name="Slide Number Placeholder 10"/>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502920"/>
          </a:xfrm>
          <a:prstGeom prst="rect">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64008"/>
            <a:ext cx="7315200" cy="365760"/>
          </a:xfrm>
          <a:prstGeom prst="rect">
            <a:avLst/>
          </a:prstGeom>
          <a:noFill/>
        </p:spPr>
        <p:txBody>
          <a:bodyPr wrap="square">
            <a:spAutoFit/>
          </a:bodyPr>
          <a:lstStyle/>
          <a:p>
            <a:pPr algn="l"/>
            <a:r>
              <a:rPr sz="1000" b="1" i="0">
                <a:solidFill>
                  <a:srgbClr val="FFFFFF"/>
                </a:solidFill>
                <a:latin typeface="Calibri" panose="020F0502020204030204"/>
              </a:rPr>
              <a:t>Assam down town University, Guwahati</a:t>
            </a:r>
            <a:endParaRPr sz="1000" b="1" i="0">
              <a:solidFill>
                <a:srgbClr val="FFFFFF"/>
              </a:solidFill>
              <a:latin typeface="Calibri" panose="020F0502020204030204"/>
            </a:endParaRPr>
          </a:p>
        </p:txBody>
      </p:sp>
      <p:sp>
        <p:nvSpPr>
          <p:cNvPr id="4" name="Rectangle 3"/>
          <p:cNvSpPr/>
          <p:nvPr/>
        </p:nvSpPr>
        <p:spPr>
          <a:xfrm>
            <a:off x="0" y="6629400"/>
            <a:ext cx="12188952" cy="2286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85800"/>
            <a:ext cx="10972800" cy="502920"/>
          </a:xfrm>
          <a:prstGeom prst="rect">
            <a:avLst/>
          </a:prstGeom>
          <a:noFill/>
        </p:spPr>
        <p:txBody>
          <a:bodyPr wrap="square">
            <a:spAutoFit/>
          </a:bodyPr>
          <a:lstStyle/>
          <a:p>
            <a:pPr algn="l"/>
            <a:r>
              <a:rPr sz="2200" b="1" i="0">
                <a:solidFill>
                  <a:srgbClr val="00326E"/>
                </a:solidFill>
                <a:latin typeface="Calibri" panose="020F0502020204030204"/>
              </a:rPr>
              <a:t>References</a:t>
            </a:r>
            <a:endParaRPr sz="2200" b="1" i="0">
              <a:solidFill>
                <a:srgbClr val="00326E"/>
              </a:solidFill>
              <a:latin typeface="Calibri" panose="020F0502020204030204"/>
            </a:endParaRPr>
          </a:p>
        </p:txBody>
      </p:sp>
      <p:sp>
        <p:nvSpPr>
          <p:cNvPr id="7" name="Rectangle 6"/>
          <p:cNvSpPr/>
          <p:nvPr/>
        </p:nvSpPr>
        <p:spPr>
          <a:xfrm>
            <a:off x="457200" y="1216152"/>
            <a:ext cx="10972800" cy="25400"/>
          </a:xfrm>
          <a:prstGeom prst="rect">
            <a:avLst/>
          </a:prstGeom>
          <a:solidFill>
            <a:srgbClr val="A87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17320"/>
            <a:ext cx="11247120" cy="320040"/>
          </a:xfrm>
          <a:prstGeom prst="rect">
            <a:avLst/>
          </a:prstGeom>
          <a:noFill/>
        </p:spPr>
        <p:txBody>
          <a:bodyPr wrap="square">
            <a:spAutoFit/>
          </a:bodyPr>
          <a:lstStyle/>
          <a:p>
            <a:pPr algn="l"/>
            <a:r>
              <a:rPr sz="1100" b="0" i="0">
                <a:solidFill>
                  <a:srgbClr val="333333"/>
                </a:solidFill>
                <a:latin typeface="Calibri" panose="020F0502020204030204"/>
              </a:rPr>
              <a:t>[1]  React Documentation — https://react.dev</a:t>
            </a:r>
            <a:endParaRPr sz="1100" b="0" i="0">
              <a:solidFill>
                <a:srgbClr val="333333"/>
              </a:solidFill>
              <a:latin typeface="Calibri" panose="020F0502020204030204"/>
            </a:endParaRPr>
          </a:p>
        </p:txBody>
      </p:sp>
      <p:sp>
        <p:nvSpPr>
          <p:cNvPr id="9" name="TextBox 8"/>
          <p:cNvSpPr txBox="1"/>
          <p:nvPr/>
        </p:nvSpPr>
        <p:spPr>
          <a:xfrm>
            <a:off x="457200" y="1755648"/>
            <a:ext cx="11247120" cy="320040"/>
          </a:xfrm>
          <a:prstGeom prst="rect">
            <a:avLst/>
          </a:prstGeom>
          <a:noFill/>
        </p:spPr>
        <p:txBody>
          <a:bodyPr wrap="square">
            <a:spAutoFit/>
          </a:bodyPr>
          <a:lstStyle/>
          <a:p>
            <a:pPr algn="l"/>
            <a:r>
              <a:rPr sz="1100" b="0" i="0">
                <a:solidFill>
                  <a:srgbClr val="333333"/>
                </a:solidFill>
                <a:latin typeface="Calibri" panose="020F0502020204030204"/>
              </a:rPr>
              <a:t>[2]  Node.js Documentation — https://nodejs.org/en/docs</a:t>
            </a:r>
            <a:endParaRPr sz="1100" b="0" i="0">
              <a:solidFill>
                <a:srgbClr val="333333"/>
              </a:solidFill>
              <a:latin typeface="Calibri" panose="020F0502020204030204"/>
            </a:endParaRPr>
          </a:p>
        </p:txBody>
      </p:sp>
      <p:sp>
        <p:nvSpPr>
          <p:cNvPr id="10" name="TextBox 9"/>
          <p:cNvSpPr txBox="1"/>
          <p:nvPr/>
        </p:nvSpPr>
        <p:spPr>
          <a:xfrm>
            <a:off x="457200" y="2093976"/>
            <a:ext cx="11247120" cy="320040"/>
          </a:xfrm>
          <a:prstGeom prst="rect">
            <a:avLst/>
          </a:prstGeom>
          <a:noFill/>
        </p:spPr>
        <p:txBody>
          <a:bodyPr wrap="square">
            <a:spAutoFit/>
          </a:bodyPr>
          <a:lstStyle/>
          <a:p>
            <a:pPr algn="l"/>
            <a:r>
              <a:rPr sz="1100" b="0" i="0">
                <a:solidFill>
                  <a:srgbClr val="333333"/>
                </a:solidFill>
                <a:latin typeface="Calibri" panose="020F0502020204030204"/>
              </a:rPr>
              <a:t>[3]  Express.js Guide — https://expressjs.com/en/guide</a:t>
            </a:r>
            <a:endParaRPr sz="1100" b="0" i="0">
              <a:solidFill>
                <a:srgbClr val="333333"/>
              </a:solidFill>
              <a:latin typeface="Calibri" panose="020F0502020204030204"/>
            </a:endParaRPr>
          </a:p>
        </p:txBody>
      </p:sp>
      <p:sp>
        <p:nvSpPr>
          <p:cNvPr id="11" name="TextBox 10"/>
          <p:cNvSpPr txBox="1"/>
          <p:nvPr/>
        </p:nvSpPr>
        <p:spPr>
          <a:xfrm>
            <a:off x="457200" y="2432304"/>
            <a:ext cx="11247120" cy="320040"/>
          </a:xfrm>
          <a:prstGeom prst="rect">
            <a:avLst/>
          </a:prstGeom>
          <a:noFill/>
        </p:spPr>
        <p:txBody>
          <a:bodyPr wrap="square">
            <a:spAutoFit/>
          </a:bodyPr>
          <a:lstStyle/>
          <a:p>
            <a:pPr algn="l"/>
            <a:r>
              <a:rPr sz="1100" b="0" i="0">
                <a:solidFill>
                  <a:srgbClr val="333333"/>
                </a:solidFill>
                <a:latin typeface="Calibri" panose="020F0502020204030204"/>
              </a:rPr>
              <a:t>[4]  Socket.IO Documentation — https://socket.io/docs/v4</a:t>
            </a:r>
            <a:endParaRPr sz="1100" b="0" i="0">
              <a:solidFill>
                <a:srgbClr val="333333"/>
              </a:solidFill>
              <a:latin typeface="Calibri" panose="020F0502020204030204"/>
            </a:endParaRPr>
          </a:p>
        </p:txBody>
      </p:sp>
      <p:sp>
        <p:nvSpPr>
          <p:cNvPr id="12" name="TextBox 11"/>
          <p:cNvSpPr txBox="1"/>
          <p:nvPr/>
        </p:nvSpPr>
        <p:spPr>
          <a:xfrm>
            <a:off x="457200" y="2770632"/>
            <a:ext cx="11247120" cy="320040"/>
          </a:xfrm>
          <a:prstGeom prst="rect">
            <a:avLst/>
          </a:prstGeom>
          <a:noFill/>
        </p:spPr>
        <p:txBody>
          <a:bodyPr wrap="square">
            <a:spAutoFit/>
          </a:bodyPr>
          <a:lstStyle/>
          <a:p>
            <a:pPr algn="l"/>
            <a:r>
              <a:rPr sz="1100" b="0" i="0">
                <a:solidFill>
                  <a:srgbClr val="333333"/>
                </a:solidFill>
                <a:latin typeface="Calibri" panose="020F0502020204030204"/>
              </a:rPr>
              <a:t>[5]  PostgreSQL Documentation — https://www.postgresql.org/docs</a:t>
            </a:r>
            <a:endParaRPr sz="1100" b="0" i="0">
              <a:solidFill>
                <a:srgbClr val="333333"/>
              </a:solidFill>
              <a:latin typeface="Calibri" panose="020F0502020204030204"/>
            </a:endParaRPr>
          </a:p>
        </p:txBody>
      </p:sp>
      <p:sp>
        <p:nvSpPr>
          <p:cNvPr id="13" name="TextBox 12"/>
          <p:cNvSpPr txBox="1"/>
          <p:nvPr/>
        </p:nvSpPr>
        <p:spPr>
          <a:xfrm>
            <a:off x="457200" y="3108960"/>
            <a:ext cx="11247120" cy="320040"/>
          </a:xfrm>
          <a:prstGeom prst="rect">
            <a:avLst/>
          </a:prstGeom>
          <a:noFill/>
        </p:spPr>
        <p:txBody>
          <a:bodyPr wrap="square">
            <a:spAutoFit/>
          </a:bodyPr>
          <a:lstStyle/>
          <a:p>
            <a:pPr algn="l"/>
            <a:r>
              <a:rPr sz="1100" b="0" i="0">
                <a:solidFill>
                  <a:srgbClr val="333333"/>
                </a:solidFill>
                <a:latin typeface="Calibri" panose="020F0502020204030204"/>
              </a:rPr>
              <a:t>[6]  Supabase Documentation — https://supabase.com/docs</a:t>
            </a:r>
            <a:endParaRPr sz="1100" b="0" i="0">
              <a:solidFill>
                <a:srgbClr val="333333"/>
              </a:solidFill>
              <a:latin typeface="Calibri" panose="020F0502020204030204"/>
            </a:endParaRPr>
          </a:p>
        </p:txBody>
      </p:sp>
      <p:sp>
        <p:nvSpPr>
          <p:cNvPr id="14" name="TextBox 13"/>
          <p:cNvSpPr txBox="1"/>
          <p:nvPr/>
        </p:nvSpPr>
        <p:spPr>
          <a:xfrm>
            <a:off x="457200" y="3447288"/>
            <a:ext cx="11247120" cy="320040"/>
          </a:xfrm>
          <a:prstGeom prst="rect">
            <a:avLst/>
          </a:prstGeom>
          <a:noFill/>
        </p:spPr>
        <p:txBody>
          <a:bodyPr wrap="square">
            <a:spAutoFit/>
          </a:bodyPr>
          <a:lstStyle/>
          <a:p>
            <a:pPr algn="l"/>
            <a:r>
              <a:rPr sz="1100" b="0" i="0">
                <a:solidFill>
                  <a:srgbClr val="333333"/>
                </a:solidFill>
                <a:latin typeface="Calibri" panose="020F0502020204030204"/>
              </a:rPr>
              <a:t>[7]  Cloudinary Node.js SDK — https://cloudinary.com/documentation/node_integration</a:t>
            </a:r>
            <a:endParaRPr sz="1100" b="0" i="0">
              <a:solidFill>
                <a:srgbClr val="333333"/>
              </a:solidFill>
              <a:latin typeface="Calibri" panose="020F0502020204030204"/>
            </a:endParaRPr>
          </a:p>
        </p:txBody>
      </p:sp>
      <p:sp>
        <p:nvSpPr>
          <p:cNvPr id="15" name="TextBox 14"/>
          <p:cNvSpPr txBox="1"/>
          <p:nvPr/>
        </p:nvSpPr>
        <p:spPr>
          <a:xfrm>
            <a:off x="457200" y="3785616"/>
            <a:ext cx="11247120" cy="320040"/>
          </a:xfrm>
          <a:prstGeom prst="rect">
            <a:avLst/>
          </a:prstGeom>
          <a:noFill/>
        </p:spPr>
        <p:txBody>
          <a:bodyPr wrap="square">
            <a:spAutoFit/>
          </a:bodyPr>
          <a:lstStyle/>
          <a:p>
            <a:pPr algn="l"/>
            <a:r>
              <a:rPr sz="1100" b="0" i="0">
                <a:solidFill>
                  <a:srgbClr val="333333"/>
                </a:solidFill>
                <a:latin typeface="Calibri" panose="020F0502020204030204"/>
              </a:rPr>
              <a:t>[8]  Vite.js Documentation — https://vitejs.dev/guide</a:t>
            </a:r>
            <a:endParaRPr sz="1100" b="0" i="0">
              <a:solidFill>
                <a:srgbClr val="333333"/>
              </a:solidFill>
              <a:latin typeface="Calibri" panose="020F0502020204030204"/>
            </a:endParaRPr>
          </a:p>
        </p:txBody>
      </p:sp>
      <p:sp>
        <p:nvSpPr>
          <p:cNvPr id="16" name="TextBox 15"/>
          <p:cNvSpPr txBox="1"/>
          <p:nvPr/>
        </p:nvSpPr>
        <p:spPr>
          <a:xfrm>
            <a:off x="457200" y="4123944"/>
            <a:ext cx="11247120" cy="320040"/>
          </a:xfrm>
          <a:prstGeom prst="rect">
            <a:avLst/>
          </a:prstGeom>
          <a:noFill/>
        </p:spPr>
        <p:txBody>
          <a:bodyPr wrap="square">
            <a:spAutoFit/>
          </a:bodyPr>
          <a:lstStyle/>
          <a:p>
            <a:pPr algn="l"/>
            <a:r>
              <a:rPr sz="1100" b="0" i="0">
                <a:solidFill>
                  <a:srgbClr val="333333"/>
                </a:solidFill>
                <a:latin typeface="Calibri" panose="020F0502020204030204"/>
              </a:rPr>
              <a:t>[9]  JSON Web Tokens (JWT) — https://jwt.io/introduction</a:t>
            </a:r>
            <a:endParaRPr sz="1100" b="0" i="0">
              <a:solidFill>
                <a:srgbClr val="333333"/>
              </a:solidFill>
              <a:latin typeface="Calibri" panose="020F0502020204030204"/>
            </a:endParaRPr>
          </a:p>
        </p:txBody>
      </p:sp>
      <p:sp>
        <p:nvSpPr>
          <p:cNvPr id="17" name="TextBox 16"/>
          <p:cNvSpPr txBox="1"/>
          <p:nvPr/>
        </p:nvSpPr>
        <p:spPr>
          <a:xfrm>
            <a:off x="457200" y="4462272"/>
            <a:ext cx="11247120" cy="320040"/>
          </a:xfrm>
          <a:prstGeom prst="rect">
            <a:avLst/>
          </a:prstGeom>
          <a:noFill/>
        </p:spPr>
        <p:txBody>
          <a:bodyPr wrap="square">
            <a:spAutoFit/>
          </a:bodyPr>
          <a:lstStyle/>
          <a:p>
            <a:pPr algn="l"/>
            <a:r>
              <a:rPr sz="1100" b="0" i="0">
                <a:solidFill>
                  <a:srgbClr val="333333"/>
                </a:solidFill>
                <a:latin typeface="Calibri" panose="020F0502020204030204"/>
              </a:rPr>
              <a:t>[10] Multer Middleware — https://github.com/expressjs/multer</a:t>
            </a:r>
            <a:endParaRPr sz="1100" b="0" i="0">
              <a:solidFill>
                <a:srgbClr val="333333"/>
              </a:solidFill>
              <a:latin typeface="Calibri" panose="020F0502020204030204"/>
            </a:endParaRPr>
          </a:p>
        </p:txBody>
      </p:sp>
      <p:sp>
        <p:nvSpPr>
          <p:cNvPr id="18" name="TextBox 17"/>
          <p:cNvSpPr txBox="1"/>
          <p:nvPr/>
        </p:nvSpPr>
        <p:spPr>
          <a:xfrm>
            <a:off x="457200" y="4800600"/>
            <a:ext cx="11247120" cy="320040"/>
          </a:xfrm>
          <a:prstGeom prst="rect">
            <a:avLst/>
          </a:prstGeom>
          <a:noFill/>
        </p:spPr>
        <p:txBody>
          <a:bodyPr wrap="square">
            <a:spAutoFit/>
          </a:bodyPr>
          <a:lstStyle/>
          <a:p>
            <a:pPr algn="l"/>
            <a:r>
              <a:rPr sz="1100" b="0" i="0">
                <a:solidFill>
                  <a:srgbClr val="333333"/>
                </a:solidFill>
                <a:latin typeface="Calibri" panose="020F0502020204030204"/>
              </a:rPr>
              <a:t>[11] Tailwind CSS Documentation — https://tailwindcss.com/docs</a:t>
            </a:r>
            <a:endParaRPr sz="1100" b="0" i="0">
              <a:solidFill>
                <a:srgbClr val="333333"/>
              </a:solidFill>
              <a:latin typeface="Calibri" panose="020F0502020204030204"/>
            </a:endParaRPr>
          </a:p>
        </p:txBody>
      </p:sp>
      <p:sp>
        <p:nvSpPr>
          <p:cNvPr id="19" name="TextBox 18"/>
          <p:cNvSpPr txBox="1"/>
          <p:nvPr/>
        </p:nvSpPr>
        <p:spPr>
          <a:xfrm>
            <a:off x="457200" y="5138928"/>
            <a:ext cx="11247120" cy="320040"/>
          </a:xfrm>
          <a:prstGeom prst="rect">
            <a:avLst/>
          </a:prstGeom>
          <a:noFill/>
        </p:spPr>
        <p:txBody>
          <a:bodyPr wrap="square">
            <a:spAutoFit/>
          </a:bodyPr>
          <a:lstStyle/>
          <a:p>
            <a:pPr algn="l"/>
            <a:r>
              <a:rPr sz="1100" b="0" i="0">
                <a:solidFill>
                  <a:srgbClr val="333333"/>
                </a:solidFill>
                <a:latin typeface="Calibri" panose="020F0502020204030204"/>
              </a:rPr>
              <a:t>[12] Pressman, R.S. — Software Engineering: A Practitioner's Approach (8th Ed.), McGraw-Hill</a:t>
            </a:r>
            <a:endParaRPr sz="1100" b="0" i="0">
              <a:solidFill>
                <a:srgbClr val="333333"/>
              </a:solidFill>
              <a:latin typeface="Calibri" panose="020F0502020204030204"/>
            </a:endParaRPr>
          </a:p>
        </p:txBody>
      </p:sp>
      <p:sp>
        <p:nvSpPr>
          <p:cNvPr id="20" name="Rectangle 19"/>
          <p:cNvSpPr/>
          <p:nvPr/>
        </p:nvSpPr>
        <p:spPr>
          <a:xfrm>
            <a:off x="1828800" y="5532120"/>
            <a:ext cx="8503920" cy="822960"/>
          </a:xfrm>
          <a:prstGeom prst="rect">
            <a:avLst/>
          </a:prstGeom>
          <a:solidFill>
            <a:srgbClr val="00326E"/>
          </a:solidFill>
          <a:ln w="19050">
            <a:solidFill>
              <a:srgbClr val="A87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0" y="5605272"/>
            <a:ext cx="8503920" cy="640080"/>
          </a:xfrm>
          <a:prstGeom prst="rect">
            <a:avLst/>
          </a:prstGeom>
          <a:noFill/>
        </p:spPr>
        <p:txBody>
          <a:bodyPr wrap="square">
            <a:spAutoFit/>
          </a:bodyPr>
          <a:lstStyle/>
          <a:p>
            <a:pPr algn="ctr"/>
            <a:r>
              <a:rPr sz="1800" b="1" i="0">
                <a:solidFill>
                  <a:srgbClr val="FFFFFF"/>
                </a:solidFill>
                <a:latin typeface="Calibri" panose="020F0502020204030204"/>
              </a:rPr>
              <a:t>Thank You  |  Questions &amp; Discussion</a:t>
            </a:r>
            <a:endParaRPr sz="1800" b="1" i="0">
              <a:solidFill>
                <a:srgbClr val="FFFFFF"/>
              </a:solidFill>
              <a:latin typeface="Calibri" panose="020F0502020204030204"/>
            </a:endParaRPr>
          </a:p>
        </p:txBody>
      </p:sp>
      <p:sp>
        <p:nvSpPr>
          <p:cNvPr id="23" name="Slide Number Placeholder 22"/>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17498</Words>
  <Application>WPS Presentation</Application>
  <PresentationFormat>On-screen Show (4:3)</PresentationFormat>
  <Paragraphs>634</Paragraphs>
  <Slides>20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Arial</vt:lpstr>
      <vt:lpstr>SimSun</vt:lpstr>
      <vt:lpstr>Wingdings</vt:lpstr>
      <vt:lpstr>Arial</vt:lpstr>
      <vt:lpstr>Calibri</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peow peow</cp:lastModifiedBy>
  <cp:revision>3</cp:revision>
  <dcterms:created xsi:type="dcterms:W3CDTF">2013-01-27T09:14:00Z</dcterms:created>
  <dcterms:modified xsi:type="dcterms:W3CDTF">2026-03-31T17:25:30Z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5CBB0B2F598C4BB68457D06277C15228_12</vt:lpwstr>
  </property>
  <property fmtid="{D5CDD505-2E9C-101B-9397-08002B2CF9AE}" pid="3" name="KSOProductBuildVer">
    <vt:lpwstr>2057-12.2.0.23196</vt:lpwstr>
  </property>
</Properties>
</file>